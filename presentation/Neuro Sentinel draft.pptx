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5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8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5213AE7-C3A0-4F53-8320-D72E42D80B72}" type="doc">
      <dgm:prSet loTypeId="urn:microsoft.com/office/officeart/2005/8/layout/vProcess5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CC7AB19E-39D4-4FEC-A6D4-B46739884523}">
      <dgm:prSet/>
      <dgm:spPr/>
      <dgm:t>
        <a:bodyPr/>
        <a:lstStyle/>
        <a:p>
          <a:r>
            <a:rPr lang="en-US" b="1" i="0" baseline="0"/>
            <a:t>Static Signatures:</a:t>
          </a:r>
          <a:r>
            <a:rPr lang="en-US" b="0" i="0" baseline="0"/>
            <a:t> Traditional IDS relies on known signatures. </a:t>
          </a:r>
          <a:br>
            <a:rPr lang="en-US" b="0" i="0" baseline="0"/>
          </a:br>
          <a:r>
            <a:rPr lang="en-US" b="0" i="0" baseline="0"/>
            <a:t>If the attack is a "Zero-Day" (new), the firewall is blind.</a:t>
          </a:r>
          <a:br>
            <a:rPr lang="en-US" b="0" i="0" baseline="0"/>
          </a:br>
          <a:endParaRPr lang="en-US"/>
        </a:p>
      </dgm:t>
    </dgm:pt>
    <dgm:pt modelId="{AAF5CEE0-8166-4F45-B96F-CD335F17E10B}" type="parTrans" cxnId="{E7EF75C4-B875-4C8F-BFEE-C598294CFF93}">
      <dgm:prSet/>
      <dgm:spPr/>
      <dgm:t>
        <a:bodyPr/>
        <a:lstStyle/>
        <a:p>
          <a:endParaRPr lang="en-US"/>
        </a:p>
      </dgm:t>
    </dgm:pt>
    <dgm:pt modelId="{01BC00B5-4A76-44F7-A80C-C66A3BEEFD47}" type="sibTrans" cxnId="{E7EF75C4-B875-4C8F-BFEE-C598294CFF93}">
      <dgm:prSet/>
      <dgm:spPr/>
      <dgm:t>
        <a:bodyPr/>
        <a:lstStyle/>
        <a:p>
          <a:endParaRPr lang="en-US"/>
        </a:p>
      </dgm:t>
    </dgm:pt>
    <dgm:pt modelId="{C592C11F-B32E-4034-8123-3CBC27BCE680}">
      <dgm:prSet/>
      <dgm:spPr/>
      <dgm:t>
        <a:bodyPr/>
        <a:lstStyle/>
        <a:p>
          <a:r>
            <a:rPr lang="en-US" b="1" i="0" baseline="0"/>
            <a:t>Alert Fatigue:</a:t>
          </a:r>
          <a:r>
            <a:rPr lang="en-US" b="0" i="0" baseline="0"/>
            <a:t> Security teams are overwhelmed by logs.</a:t>
          </a:r>
          <a:br>
            <a:rPr lang="en-US" b="0" i="0" baseline="0"/>
          </a:br>
          <a:endParaRPr lang="en-US"/>
        </a:p>
      </dgm:t>
    </dgm:pt>
    <dgm:pt modelId="{4A24997C-9025-4669-8275-BCF30313CF4E}" type="parTrans" cxnId="{DD478BCD-168C-4859-9D95-DBCB783D8B4D}">
      <dgm:prSet/>
      <dgm:spPr/>
      <dgm:t>
        <a:bodyPr/>
        <a:lstStyle/>
        <a:p>
          <a:endParaRPr lang="en-US"/>
        </a:p>
      </dgm:t>
    </dgm:pt>
    <dgm:pt modelId="{CB091D76-EE4D-4505-A26F-8920CCE9EE93}" type="sibTrans" cxnId="{DD478BCD-168C-4859-9D95-DBCB783D8B4D}">
      <dgm:prSet/>
      <dgm:spPr/>
      <dgm:t>
        <a:bodyPr/>
        <a:lstStyle/>
        <a:p>
          <a:endParaRPr lang="en-US"/>
        </a:p>
      </dgm:t>
    </dgm:pt>
    <dgm:pt modelId="{6E7C06EE-6839-4205-AB15-CEF0162039A1}">
      <dgm:prSet/>
      <dgm:spPr/>
      <dgm:t>
        <a:bodyPr/>
        <a:lstStyle/>
        <a:p>
          <a:r>
            <a:rPr lang="en-US" b="1" i="0" baseline="0"/>
            <a:t>Passive vs. Active:</a:t>
          </a:r>
          <a:r>
            <a:rPr lang="en-US" b="0" i="0" baseline="0"/>
            <a:t> Most systems only </a:t>
          </a:r>
          <a:r>
            <a:rPr lang="en-US" b="0" i="1" baseline="0"/>
            <a:t>detect</a:t>
          </a:r>
          <a:r>
            <a:rPr lang="en-US" b="0" i="0" baseline="0"/>
            <a:t> (IDS). </a:t>
          </a:r>
          <a:br>
            <a:rPr lang="en-US" b="0" i="0" baseline="0"/>
          </a:br>
          <a:r>
            <a:rPr lang="en-US" b="0" i="0" baseline="0"/>
            <a:t>We need a system that </a:t>
          </a:r>
          <a:r>
            <a:rPr lang="en-US" b="0" i="1" baseline="0"/>
            <a:t>prevents</a:t>
          </a:r>
          <a:r>
            <a:rPr lang="en-US" b="0" i="0" baseline="0"/>
            <a:t> (IPS) in real-time.</a:t>
          </a:r>
          <a:endParaRPr lang="en-US"/>
        </a:p>
      </dgm:t>
    </dgm:pt>
    <dgm:pt modelId="{330773D2-7573-4D75-A870-5E8CC1179AF8}" type="parTrans" cxnId="{305664CA-A692-440F-B7A4-7D4ACE49BD8C}">
      <dgm:prSet/>
      <dgm:spPr/>
      <dgm:t>
        <a:bodyPr/>
        <a:lstStyle/>
        <a:p>
          <a:endParaRPr lang="en-US"/>
        </a:p>
      </dgm:t>
    </dgm:pt>
    <dgm:pt modelId="{6FF5EBD8-A457-4C48-BA6E-4F13BAE0A8B6}" type="sibTrans" cxnId="{305664CA-A692-440F-B7A4-7D4ACE49BD8C}">
      <dgm:prSet/>
      <dgm:spPr/>
      <dgm:t>
        <a:bodyPr/>
        <a:lstStyle/>
        <a:p>
          <a:endParaRPr lang="en-US"/>
        </a:p>
      </dgm:t>
    </dgm:pt>
    <dgm:pt modelId="{D785BF31-EBF4-4929-9C1C-392D0910046A}" type="pres">
      <dgm:prSet presAssocID="{95213AE7-C3A0-4F53-8320-D72E42D80B72}" presName="outerComposite" presStyleCnt="0">
        <dgm:presLayoutVars>
          <dgm:chMax val="5"/>
          <dgm:dir/>
          <dgm:resizeHandles val="exact"/>
        </dgm:presLayoutVars>
      </dgm:prSet>
      <dgm:spPr/>
    </dgm:pt>
    <dgm:pt modelId="{670089D8-6387-4FC6-8E3D-7AC721278847}" type="pres">
      <dgm:prSet presAssocID="{95213AE7-C3A0-4F53-8320-D72E42D80B72}" presName="dummyMaxCanvas" presStyleCnt="0">
        <dgm:presLayoutVars/>
      </dgm:prSet>
      <dgm:spPr/>
    </dgm:pt>
    <dgm:pt modelId="{E19B1494-C56E-469D-9CF4-CD4F5CF5E1F5}" type="pres">
      <dgm:prSet presAssocID="{95213AE7-C3A0-4F53-8320-D72E42D80B72}" presName="ThreeNodes_1" presStyleLbl="node1" presStyleIdx="0" presStyleCnt="3">
        <dgm:presLayoutVars>
          <dgm:bulletEnabled val="1"/>
        </dgm:presLayoutVars>
      </dgm:prSet>
      <dgm:spPr/>
    </dgm:pt>
    <dgm:pt modelId="{1190603E-DB46-4543-86BF-AF00439139D8}" type="pres">
      <dgm:prSet presAssocID="{95213AE7-C3A0-4F53-8320-D72E42D80B72}" presName="ThreeNodes_2" presStyleLbl="node1" presStyleIdx="1" presStyleCnt="3">
        <dgm:presLayoutVars>
          <dgm:bulletEnabled val="1"/>
        </dgm:presLayoutVars>
      </dgm:prSet>
      <dgm:spPr/>
    </dgm:pt>
    <dgm:pt modelId="{56A219C9-41A4-47E7-B368-76DA98A3CF8F}" type="pres">
      <dgm:prSet presAssocID="{95213AE7-C3A0-4F53-8320-D72E42D80B72}" presName="ThreeNodes_3" presStyleLbl="node1" presStyleIdx="2" presStyleCnt="3">
        <dgm:presLayoutVars>
          <dgm:bulletEnabled val="1"/>
        </dgm:presLayoutVars>
      </dgm:prSet>
      <dgm:spPr/>
    </dgm:pt>
    <dgm:pt modelId="{16C4A8B0-CE33-462F-95FE-AB2D4A290891}" type="pres">
      <dgm:prSet presAssocID="{95213AE7-C3A0-4F53-8320-D72E42D80B72}" presName="ThreeConn_1-2" presStyleLbl="fgAccFollowNode1" presStyleIdx="0" presStyleCnt="2">
        <dgm:presLayoutVars>
          <dgm:bulletEnabled val="1"/>
        </dgm:presLayoutVars>
      </dgm:prSet>
      <dgm:spPr/>
    </dgm:pt>
    <dgm:pt modelId="{3EAB6908-6150-413E-AD3A-89A7DED53EE1}" type="pres">
      <dgm:prSet presAssocID="{95213AE7-C3A0-4F53-8320-D72E42D80B72}" presName="ThreeConn_2-3" presStyleLbl="fgAccFollowNode1" presStyleIdx="1" presStyleCnt="2">
        <dgm:presLayoutVars>
          <dgm:bulletEnabled val="1"/>
        </dgm:presLayoutVars>
      </dgm:prSet>
      <dgm:spPr/>
    </dgm:pt>
    <dgm:pt modelId="{CF314821-7631-4DFF-8BF1-96386B221484}" type="pres">
      <dgm:prSet presAssocID="{95213AE7-C3A0-4F53-8320-D72E42D80B72}" presName="ThreeNodes_1_text" presStyleLbl="node1" presStyleIdx="2" presStyleCnt="3">
        <dgm:presLayoutVars>
          <dgm:bulletEnabled val="1"/>
        </dgm:presLayoutVars>
      </dgm:prSet>
      <dgm:spPr/>
    </dgm:pt>
    <dgm:pt modelId="{CF67DC08-E524-46E0-9B2F-7072674D6C6C}" type="pres">
      <dgm:prSet presAssocID="{95213AE7-C3A0-4F53-8320-D72E42D80B72}" presName="ThreeNodes_2_text" presStyleLbl="node1" presStyleIdx="2" presStyleCnt="3">
        <dgm:presLayoutVars>
          <dgm:bulletEnabled val="1"/>
        </dgm:presLayoutVars>
      </dgm:prSet>
      <dgm:spPr/>
    </dgm:pt>
    <dgm:pt modelId="{01756934-FCE0-4E51-8B88-BA4D689D4023}" type="pres">
      <dgm:prSet presAssocID="{95213AE7-C3A0-4F53-8320-D72E42D80B72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935B3607-702E-484C-A452-09D315904CE1}" type="presOf" srcId="{6E7C06EE-6839-4205-AB15-CEF0162039A1}" destId="{01756934-FCE0-4E51-8B88-BA4D689D4023}" srcOrd="1" destOrd="0" presId="urn:microsoft.com/office/officeart/2005/8/layout/vProcess5"/>
    <dgm:cxn modelId="{2FE32321-5643-4618-854D-59FF836E24C9}" type="presOf" srcId="{C592C11F-B32E-4034-8123-3CBC27BCE680}" destId="{1190603E-DB46-4543-86BF-AF00439139D8}" srcOrd="0" destOrd="0" presId="urn:microsoft.com/office/officeart/2005/8/layout/vProcess5"/>
    <dgm:cxn modelId="{F6D3AF6F-E611-463F-B090-88E705AAF2B9}" type="presOf" srcId="{95213AE7-C3A0-4F53-8320-D72E42D80B72}" destId="{D785BF31-EBF4-4929-9C1C-392D0910046A}" srcOrd="0" destOrd="0" presId="urn:microsoft.com/office/officeart/2005/8/layout/vProcess5"/>
    <dgm:cxn modelId="{84AFF579-98C8-40A4-9B59-D9A5FE26041C}" type="presOf" srcId="{C592C11F-B32E-4034-8123-3CBC27BCE680}" destId="{CF67DC08-E524-46E0-9B2F-7072674D6C6C}" srcOrd="1" destOrd="0" presId="urn:microsoft.com/office/officeart/2005/8/layout/vProcess5"/>
    <dgm:cxn modelId="{0E2C878E-B00D-46C6-A1BB-79E2F7611AB4}" type="presOf" srcId="{01BC00B5-4A76-44F7-A80C-C66A3BEEFD47}" destId="{16C4A8B0-CE33-462F-95FE-AB2D4A290891}" srcOrd="0" destOrd="0" presId="urn:microsoft.com/office/officeart/2005/8/layout/vProcess5"/>
    <dgm:cxn modelId="{03A301AF-D60F-47BB-A306-E1B1F0BB2A13}" type="presOf" srcId="{CC7AB19E-39D4-4FEC-A6D4-B46739884523}" destId="{CF314821-7631-4DFF-8BF1-96386B221484}" srcOrd="1" destOrd="0" presId="urn:microsoft.com/office/officeart/2005/8/layout/vProcess5"/>
    <dgm:cxn modelId="{B2C35AC2-C8A6-43C8-946B-6970260EC354}" type="presOf" srcId="{CC7AB19E-39D4-4FEC-A6D4-B46739884523}" destId="{E19B1494-C56E-469D-9CF4-CD4F5CF5E1F5}" srcOrd="0" destOrd="0" presId="urn:microsoft.com/office/officeart/2005/8/layout/vProcess5"/>
    <dgm:cxn modelId="{E7EF75C4-B875-4C8F-BFEE-C598294CFF93}" srcId="{95213AE7-C3A0-4F53-8320-D72E42D80B72}" destId="{CC7AB19E-39D4-4FEC-A6D4-B46739884523}" srcOrd="0" destOrd="0" parTransId="{AAF5CEE0-8166-4F45-B96F-CD335F17E10B}" sibTransId="{01BC00B5-4A76-44F7-A80C-C66A3BEEFD47}"/>
    <dgm:cxn modelId="{305664CA-A692-440F-B7A4-7D4ACE49BD8C}" srcId="{95213AE7-C3A0-4F53-8320-D72E42D80B72}" destId="{6E7C06EE-6839-4205-AB15-CEF0162039A1}" srcOrd="2" destOrd="0" parTransId="{330773D2-7573-4D75-A870-5E8CC1179AF8}" sibTransId="{6FF5EBD8-A457-4C48-BA6E-4F13BAE0A8B6}"/>
    <dgm:cxn modelId="{DD478BCD-168C-4859-9D95-DBCB783D8B4D}" srcId="{95213AE7-C3A0-4F53-8320-D72E42D80B72}" destId="{C592C11F-B32E-4034-8123-3CBC27BCE680}" srcOrd="1" destOrd="0" parTransId="{4A24997C-9025-4669-8275-BCF30313CF4E}" sibTransId="{CB091D76-EE4D-4505-A26F-8920CCE9EE93}"/>
    <dgm:cxn modelId="{BA2C0EE3-C191-43BA-826F-55B2BE74399D}" type="presOf" srcId="{6E7C06EE-6839-4205-AB15-CEF0162039A1}" destId="{56A219C9-41A4-47E7-B368-76DA98A3CF8F}" srcOrd="0" destOrd="0" presId="urn:microsoft.com/office/officeart/2005/8/layout/vProcess5"/>
    <dgm:cxn modelId="{A10EC3E8-45CA-4408-8E50-5BDEB655CB60}" type="presOf" srcId="{CB091D76-EE4D-4505-A26F-8920CCE9EE93}" destId="{3EAB6908-6150-413E-AD3A-89A7DED53EE1}" srcOrd="0" destOrd="0" presId="urn:microsoft.com/office/officeart/2005/8/layout/vProcess5"/>
    <dgm:cxn modelId="{E1EE9165-DCA7-4191-802C-968D733EFC90}" type="presParOf" srcId="{D785BF31-EBF4-4929-9C1C-392D0910046A}" destId="{670089D8-6387-4FC6-8E3D-7AC721278847}" srcOrd="0" destOrd="0" presId="urn:microsoft.com/office/officeart/2005/8/layout/vProcess5"/>
    <dgm:cxn modelId="{A59448B9-DB1D-42E1-B558-7EE8CAE5411C}" type="presParOf" srcId="{D785BF31-EBF4-4929-9C1C-392D0910046A}" destId="{E19B1494-C56E-469D-9CF4-CD4F5CF5E1F5}" srcOrd="1" destOrd="0" presId="urn:microsoft.com/office/officeart/2005/8/layout/vProcess5"/>
    <dgm:cxn modelId="{FF9EE6FD-99DF-453C-9F62-8A3CE56FB1C8}" type="presParOf" srcId="{D785BF31-EBF4-4929-9C1C-392D0910046A}" destId="{1190603E-DB46-4543-86BF-AF00439139D8}" srcOrd="2" destOrd="0" presId="urn:microsoft.com/office/officeart/2005/8/layout/vProcess5"/>
    <dgm:cxn modelId="{8C6F1978-A2EB-4B9F-852E-2C06DE57EE42}" type="presParOf" srcId="{D785BF31-EBF4-4929-9C1C-392D0910046A}" destId="{56A219C9-41A4-47E7-B368-76DA98A3CF8F}" srcOrd="3" destOrd="0" presId="urn:microsoft.com/office/officeart/2005/8/layout/vProcess5"/>
    <dgm:cxn modelId="{F2360FCD-3AB0-4704-A980-58A68BE42481}" type="presParOf" srcId="{D785BF31-EBF4-4929-9C1C-392D0910046A}" destId="{16C4A8B0-CE33-462F-95FE-AB2D4A290891}" srcOrd="4" destOrd="0" presId="urn:microsoft.com/office/officeart/2005/8/layout/vProcess5"/>
    <dgm:cxn modelId="{2750014E-2E3B-4687-A38D-9512D42B2258}" type="presParOf" srcId="{D785BF31-EBF4-4929-9C1C-392D0910046A}" destId="{3EAB6908-6150-413E-AD3A-89A7DED53EE1}" srcOrd="5" destOrd="0" presId="urn:microsoft.com/office/officeart/2005/8/layout/vProcess5"/>
    <dgm:cxn modelId="{CFFFB8F0-1D0E-4BF6-A661-32FA409E573B}" type="presParOf" srcId="{D785BF31-EBF4-4929-9C1C-392D0910046A}" destId="{CF314821-7631-4DFF-8BF1-96386B221484}" srcOrd="6" destOrd="0" presId="urn:microsoft.com/office/officeart/2005/8/layout/vProcess5"/>
    <dgm:cxn modelId="{0A690041-DD23-424F-9ED4-B283AC82585F}" type="presParOf" srcId="{D785BF31-EBF4-4929-9C1C-392D0910046A}" destId="{CF67DC08-E524-46E0-9B2F-7072674D6C6C}" srcOrd="7" destOrd="0" presId="urn:microsoft.com/office/officeart/2005/8/layout/vProcess5"/>
    <dgm:cxn modelId="{C98F0A5F-CDCA-4CF6-AFC6-A0D8714D2372}" type="presParOf" srcId="{D785BF31-EBF4-4929-9C1C-392D0910046A}" destId="{01756934-FCE0-4E51-8B88-BA4D689D4023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D2CCA13-4F8E-4D78-8732-AE4E4AFF89CA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81053104-0DFC-47FA-BD4F-F9A9BD187CF6}">
      <dgm:prSet/>
      <dgm:spPr/>
      <dgm:t>
        <a:bodyPr/>
        <a:lstStyle/>
        <a:p>
          <a:pPr>
            <a:defRPr b="1"/>
          </a:pPr>
          <a:r>
            <a:rPr lang="en-US" b="1" i="0" baseline="0"/>
            <a:t>The Concept:</a:t>
          </a:r>
          <a:r>
            <a:rPr lang="en-US" b="0" i="0" baseline="0"/>
            <a:t> A closed feedback loop.</a:t>
          </a:r>
          <a:br>
            <a:rPr lang="en-US" b="0" i="0" baseline="0"/>
          </a:br>
          <a:br>
            <a:rPr lang="en-US" b="0" i="0" baseline="0"/>
          </a:br>
          <a:r>
            <a:rPr lang="en-US" b="0" i="0" baseline="0"/>
            <a:t>"</a:t>
          </a:r>
          <a:r>
            <a:rPr lang="en-US" b="0" i="1" baseline="0"/>
            <a:t>Neuro Sentinel operates like a biological system. It has eyes to see network traffic, a cortex to </a:t>
          </a:r>
          <a:br>
            <a:rPr lang="en-US" b="0" i="1" baseline="0"/>
          </a:br>
          <a:r>
            <a:rPr lang="en-US" b="0" i="1" baseline="0"/>
            <a:t>process the data, a brain to make decisions, and hands to physically block the threat. </a:t>
          </a:r>
          <a:br>
            <a:rPr lang="en-US" b="0" i="1" baseline="0"/>
          </a:br>
          <a:r>
            <a:rPr lang="en-US" b="0" i="1" baseline="0"/>
            <a:t>All of this happens in a closed loop within a Dockerized environment.</a:t>
          </a:r>
          <a:r>
            <a:rPr lang="en-US" b="0" i="0" baseline="0"/>
            <a:t>“ – Generated by Gemini AI</a:t>
          </a:r>
          <a:br>
            <a:rPr lang="en-US" b="0" i="0" baseline="0"/>
          </a:br>
          <a:endParaRPr lang="en-US"/>
        </a:p>
      </dgm:t>
    </dgm:pt>
    <dgm:pt modelId="{DA49706F-6852-45C1-A5B9-33A3096ED203}" type="parTrans" cxnId="{49573D9E-851B-452A-9059-AC92828DEE0E}">
      <dgm:prSet/>
      <dgm:spPr/>
      <dgm:t>
        <a:bodyPr/>
        <a:lstStyle/>
        <a:p>
          <a:endParaRPr lang="en-US"/>
        </a:p>
      </dgm:t>
    </dgm:pt>
    <dgm:pt modelId="{41B1B870-33BE-4FEF-B55E-2ECA549140ED}" type="sibTrans" cxnId="{49573D9E-851B-452A-9059-AC92828DEE0E}">
      <dgm:prSet/>
      <dgm:spPr/>
      <dgm:t>
        <a:bodyPr/>
        <a:lstStyle/>
        <a:p>
          <a:endParaRPr lang="en-US"/>
        </a:p>
      </dgm:t>
    </dgm:pt>
    <dgm:pt modelId="{9D5D9505-BD2A-4E4B-8373-3B8D03EED239}">
      <dgm:prSet/>
      <dgm:spPr/>
      <dgm:t>
        <a:bodyPr/>
        <a:lstStyle/>
        <a:p>
          <a:pPr>
            <a:defRPr b="1"/>
          </a:pPr>
          <a:r>
            <a:rPr lang="en-US" b="1" i="0" baseline="0"/>
            <a:t>The Components:</a:t>
          </a:r>
          <a:endParaRPr lang="en-US"/>
        </a:p>
      </dgm:t>
    </dgm:pt>
    <dgm:pt modelId="{4729112D-2250-41B5-AE34-163CB3700AB2}" type="parTrans" cxnId="{106255A2-6E11-4F74-9684-D035D39D7F62}">
      <dgm:prSet/>
      <dgm:spPr/>
      <dgm:t>
        <a:bodyPr/>
        <a:lstStyle/>
        <a:p>
          <a:endParaRPr lang="en-US"/>
        </a:p>
      </dgm:t>
    </dgm:pt>
    <dgm:pt modelId="{1128D2EC-3260-419F-ADDA-F57516B5E9A5}" type="sibTrans" cxnId="{106255A2-6E11-4F74-9684-D035D39D7F62}">
      <dgm:prSet/>
      <dgm:spPr/>
      <dgm:t>
        <a:bodyPr/>
        <a:lstStyle/>
        <a:p>
          <a:endParaRPr lang="en-US"/>
        </a:p>
      </dgm:t>
    </dgm:pt>
    <dgm:pt modelId="{4C961836-1281-48CC-841B-3FD34086E39A}">
      <dgm:prSet/>
      <dgm:spPr/>
      <dgm:t>
        <a:bodyPr/>
        <a:lstStyle/>
        <a:p>
          <a:r>
            <a:rPr lang="en-US" b="1" i="0" baseline="0" dirty="0"/>
            <a:t>The Eyes:</a:t>
          </a:r>
          <a:r>
            <a:rPr lang="en-US" b="0" i="0" baseline="0" dirty="0"/>
            <a:t> Suricata (Network Flow Data).</a:t>
          </a:r>
          <a:endParaRPr lang="en-US" dirty="0"/>
        </a:p>
      </dgm:t>
    </dgm:pt>
    <dgm:pt modelId="{97776A68-5E31-4767-BF68-6FCC4F27A954}" type="parTrans" cxnId="{64BB76B1-AFDA-43E7-9C58-AAD2BFED83C5}">
      <dgm:prSet/>
      <dgm:spPr/>
      <dgm:t>
        <a:bodyPr/>
        <a:lstStyle/>
        <a:p>
          <a:endParaRPr lang="en-US"/>
        </a:p>
      </dgm:t>
    </dgm:pt>
    <dgm:pt modelId="{487A80F3-A06C-4ACA-93A6-039691011775}" type="sibTrans" cxnId="{64BB76B1-AFDA-43E7-9C58-AAD2BFED83C5}">
      <dgm:prSet/>
      <dgm:spPr/>
      <dgm:t>
        <a:bodyPr/>
        <a:lstStyle/>
        <a:p>
          <a:endParaRPr lang="en-US"/>
        </a:p>
      </dgm:t>
    </dgm:pt>
    <dgm:pt modelId="{6DA6CADC-D4E0-4243-9D40-83B86B4E7716}">
      <dgm:prSet/>
      <dgm:spPr/>
      <dgm:t>
        <a:bodyPr/>
        <a:lstStyle/>
        <a:p>
          <a:r>
            <a:rPr lang="en-US" b="1" i="0" baseline="0" dirty="0"/>
            <a:t>The Cortex:</a:t>
          </a:r>
          <a:r>
            <a:rPr lang="en-US" b="0" i="0" baseline="0" dirty="0"/>
            <a:t> Feature Extraction Engine (Python).</a:t>
          </a:r>
          <a:endParaRPr lang="en-US" dirty="0"/>
        </a:p>
      </dgm:t>
    </dgm:pt>
    <dgm:pt modelId="{58BF30CE-4F91-48AD-AE62-DB2F7C1D3F64}" type="parTrans" cxnId="{C832CD02-39F7-4868-B186-FCC20FDECA09}">
      <dgm:prSet/>
      <dgm:spPr/>
      <dgm:t>
        <a:bodyPr/>
        <a:lstStyle/>
        <a:p>
          <a:endParaRPr lang="en-US"/>
        </a:p>
      </dgm:t>
    </dgm:pt>
    <dgm:pt modelId="{A228A1FA-7FA2-4033-947B-208FFA2D93E8}" type="sibTrans" cxnId="{C832CD02-39F7-4868-B186-FCC20FDECA09}">
      <dgm:prSet/>
      <dgm:spPr/>
      <dgm:t>
        <a:bodyPr/>
        <a:lstStyle/>
        <a:p>
          <a:endParaRPr lang="en-US"/>
        </a:p>
      </dgm:t>
    </dgm:pt>
    <dgm:pt modelId="{A4DF7D5B-3705-4076-A67B-F0C6A1E0003F}">
      <dgm:prSet/>
      <dgm:spPr/>
      <dgm:t>
        <a:bodyPr/>
        <a:lstStyle/>
        <a:p>
          <a:r>
            <a:rPr lang="en-US" b="1" i="0" baseline="0"/>
            <a:t>The Brain:</a:t>
          </a:r>
          <a:r>
            <a:rPr lang="en-US" b="0" i="0" baseline="0"/>
            <a:t> Random Forest Classifier.</a:t>
          </a:r>
          <a:endParaRPr lang="en-US"/>
        </a:p>
      </dgm:t>
    </dgm:pt>
    <dgm:pt modelId="{3374291A-FA6A-416B-885A-FA9371D0C1FC}" type="parTrans" cxnId="{656C9581-7240-4D58-A061-493DA9EEC454}">
      <dgm:prSet/>
      <dgm:spPr/>
      <dgm:t>
        <a:bodyPr/>
        <a:lstStyle/>
        <a:p>
          <a:endParaRPr lang="en-US"/>
        </a:p>
      </dgm:t>
    </dgm:pt>
    <dgm:pt modelId="{496A3040-E385-416A-BA0E-D9768F6FA4E2}" type="sibTrans" cxnId="{656C9581-7240-4D58-A061-493DA9EEC454}">
      <dgm:prSet/>
      <dgm:spPr/>
      <dgm:t>
        <a:bodyPr/>
        <a:lstStyle/>
        <a:p>
          <a:endParaRPr lang="en-US"/>
        </a:p>
      </dgm:t>
    </dgm:pt>
    <dgm:pt modelId="{B6EC08B1-DC7B-4130-8F63-8AF1F9B075E7}">
      <dgm:prSet/>
      <dgm:spPr/>
      <dgm:t>
        <a:bodyPr/>
        <a:lstStyle/>
        <a:p>
          <a:r>
            <a:rPr lang="en-US" b="1" i="0" baseline="0"/>
            <a:t>The Hands:</a:t>
          </a:r>
          <a:r>
            <a:rPr lang="en-US" b="0" i="0" baseline="0"/>
            <a:t> IPTables (Active Blocking).</a:t>
          </a:r>
          <a:endParaRPr lang="en-US"/>
        </a:p>
      </dgm:t>
    </dgm:pt>
    <dgm:pt modelId="{98901424-2B9B-4D15-8222-EC5CAAEB2B41}" type="parTrans" cxnId="{45A1DD83-2879-4BC5-B321-584EE2861469}">
      <dgm:prSet/>
      <dgm:spPr/>
      <dgm:t>
        <a:bodyPr/>
        <a:lstStyle/>
        <a:p>
          <a:endParaRPr lang="en-US"/>
        </a:p>
      </dgm:t>
    </dgm:pt>
    <dgm:pt modelId="{258A3436-507F-4131-9716-5F26A7C59040}" type="sibTrans" cxnId="{45A1DD83-2879-4BC5-B321-584EE2861469}">
      <dgm:prSet/>
      <dgm:spPr/>
      <dgm:t>
        <a:bodyPr/>
        <a:lstStyle/>
        <a:p>
          <a:endParaRPr lang="en-US"/>
        </a:p>
      </dgm:t>
    </dgm:pt>
    <dgm:pt modelId="{16CC2670-F1B2-4F07-B6CE-6F7F8E23C975}" type="pres">
      <dgm:prSet presAssocID="{4D2CCA13-4F8E-4D78-8732-AE4E4AFF89CA}" presName="root" presStyleCnt="0">
        <dgm:presLayoutVars>
          <dgm:dir/>
          <dgm:resizeHandles val="exact"/>
        </dgm:presLayoutVars>
      </dgm:prSet>
      <dgm:spPr/>
    </dgm:pt>
    <dgm:pt modelId="{842B1442-9938-4CDE-A03B-E71F22031D0A}" type="pres">
      <dgm:prSet presAssocID="{81053104-0DFC-47FA-BD4F-F9A9BD187CF6}" presName="compNode" presStyleCnt="0"/>
      <dgm:spPr/>
    </dgm:pt>
    <dgm:pt modelId="{80CD3060-FEF6-4D74-A2CE-44A5EB5BF32B}" type="pres">
      <dgm:prSet presAssocID="{81053104-0DFC-47FA-BD4F-F9A9BD187CF6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inger Print"/>
        </a:ext>
      </dgm:extLst>
    </dgm:pt>
    <dgm:pt modelId="{6D67B403-27B0-4AF4-9F59-E9FD9B945C28}" type="pres">
      <dgm:prSet presAssocID="{81053104-0DFC-47FA-BD4F-F9A9BD187CF6}" presName="iconSpace" presStyleCnt="0"/>
      <dgm:spPr/>
    </dgm:pt>
    <dgm:pt modelId="{32F58674-C68E-4EB8-8B29-30052BFA7E27}" type="pres">
      <dgm:prSet presAssocID="{81053104-0DFC-47FA-BD4F-F9A9BD187CF6}" presName="parTx" presStyleLbl="revTx" presStyleIdx="0" presStyleCnt="4">
        <dgm:presLayoutVars>
          <dgm:chMax val="0"/>
          <dgm:chPref val="0"/>
        </dgm:presLayoutVars>
      </dgm:prSet>
      <dgm:spPr/>
    </dgm:pt>
    <dgm:pt modelId="{D9E16CC7-77FF-4921-9FAA-FE7421A6F031}" type="pres">
      <dgm:prSet presAssocID="{81053104-0DFC-47FA-BD4F-F9A9BD187CF6}" presName="txSpace" presStyleCnt="0"/>
      <dgm:spPr/>
    </dgm:pt>
    <dgm:pt modelId="{31D55FD0-CB09-4314-829D-5E33AAF7E4B1}" type="pres">
      <dgm:prSet presAssocID="{81053104-0DFC-47FA-BD4F-F9A9BD187CF6}" presName="desTx" presStyleLbl="revTx" presStyleIdx="1" presStyleCnt="4">
        <dgm:presLayoutVars/>
      </dgm:prSet>
      <dgm:spPr/>
    </dgm:pt>
    <dgm:pt modelId="{3597AD54-7E4F-4CDC-BE02-434BEA1E9C63}" type="pres">
      <dgm:prSet presAssocID="{41B1B870-33BE-4FEF-B55E-2ECA549140ED}" presName="sibTrans" presStyleCnt="0"/>
      <dgm:spPr/>
    </dgm:pt>
    <dgm:pt modelId="{A0895287-727B-40E6-9215-0835155F3A96}" type="pres">
      <dgm:prSet presAssocID="{9D5D9505-BD2A-4E4B-8373-3B8D03EED239}" presName="compNode" presStyleCnt="0"/>
      <dgm:spPr/>
    </dgm:pt>
    <dgm:pt modelId="{D6891573-247B-4A59-92CD-7E81C6EF92F5}" type="pres">
      <dgm:prSet presAssocID="{9D5D9505-BD2A-4E4B-8373-3B8D03EED239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ator"/>
        </a:ext>
      </dgm:extLst>
    </dgm:pt>
    <dgm:pt modelId="{42D840DB-311F-4499-BECD-BC8F482F38CB}" type="pres">
      <dgm:prSet presAssocID="{9D5D9505-BD2A-4E4B-8373-3B8D03EED239}" presName="iconSpace" presStyleCnt="0"/>
      <dgm:spPr/>
    </dgm:pt>
    <dgm:pt modelId="{0EE5A9D8-2CA0-4367-BA97-B4CFD8E2D19A}" type="pres">
      <dgm:prSet presAssocID="{9D5D9505-BD2A-4E4B-8373-3B8D03EED239}" presName="parTx" presStyleLbl="revTx" presStyleIdx="2" presStyleCnt="4">
        <dgm:presLayoutVars>
          <dgm:chMax val="0"/>
          <dgm:chPref val="0"/>
        </dgm:presLayoutVars>
      </dgm:prSet>
      <dgm:spPr/>
    </dgm:pt>
    <dgm:pt modelId="{12B937FA-C3DA-4868-AFE6-F954D27AC1F1}" type="pres">
      <dgm:prSet presAssocID="{9D5D9505-BD2A-4E4B-8373-3B8D03EED239}" presName="txSpace" presStyleCnt="0"/>
      <dgm:spPr/>
    </dgm:pt>
    <dgm:pt modelId="{EE06E429-B98A-4356-9BAE-F6F207066AFD}" type="pres">
      <dgm:prSet presAssocID="{9D5D9505-BD2A-4E4B-8373-3B8D03EED239}" presName="desTx" presStyleLbl="revTx" presStyleIdx="3" presStyleCnt="4" custLinFactY="-100000" custLinFactNeighborX="-636" custLinFactNeighborY="-132123">
        <dgm:presLayoutVars/>
      </dgm:prSet>
      <dgm:spPr/>
    </dgm:pt>
  </dgm:ptLst>
  <dgm:cxnLst>
    <dgm:cxn modelId="{C832CD02-39F7-4868-B186-FCC20FDECA09}" srcId="{9D5D9505-BD2A-4E4B-8373-3B8D03EED239}" destId="{6DA6CADC-D4E0-4243-9D40-83B86B4E7716}" srcOrd="1" destOrd="0" parTransId="{58BF30CE-4F91-48AD-AE62-DB2F7C1D3F64}" sibTransId="{A228A1FA-7FA2-4033-947B-208FFA2D93E8}"/>
    <dgm:cxn modelId="{E5D6B50D-7EDC-486C-93D4-FD204C16D503}" type="presOf" srcId="{B6EC08B1-DC7B-4130-8F63-8AF1F9B075E7}" destId="{EE06E429-B98A-4356-9BAE-F6F207066AFD}" srcOrd="0" destOrd="3" presId="urn:microsoft.com/office/officeart/2018/5/layout/CenteredIconLabelDescriptionList"/>
    <dgm:cxn modelId="{34D9565F-F935-4E1E-BBAA-C0CE822A7CC6}" type="presOf" srcId="{4D2CCA13-4F8E-4D78-8732-AE4E4AFF89CA}" destId="{16CC2670-F1B2-4F07-B6CE-6F7F8E23C975}" srcOrd="0" destOrd="0" presId="urn:microsoft.com/office/officeart/2018/5/layout/CenteredIconLabelDescriptionList"/>
    <dgm:cxn modelId="{BABC9145-5AD9-494F-A42C-636F8712C045}" type="presOf" srcId="{4C961836-1281-48CC-841B-3FD34086E39A}" destId="{EE06E429-B98A-4356-9BAE-F6F207066AFD}" srcOrd="0" destOrd="0" presId="urn:microsoft.com/office/officeart/2018/5/layout/CenteredIconLabelDescriptionList"/>
    <dgm:cxn modelId="{28BC4E75-CCE5-451D-86D1-45A0B9EB05B0}" type="presOf" srcId="{6DA6CADC-D4E0-4243-9D40-83B86B4E7716}" destId="{EE06E429-B98A-4356-9BAE-F6F207066AFD}" srcOrd="0" destOrd="1" presId="urn:microsoft.com/office/officeart/2018/5/layout/CenteredIconLabelDescriptionList"/>
    <dgm:cxn modelId="{656C9581-7240-4D58-A061-493DA9EEC454}" srcId="{9D5D9505-BD2A-4E4B-8373-3B8D03EED239}" destId="{A4DF7D5B-3705-4076-A67B-F0C6A1E0003F}" srcOrd="2" destOrd="0" parTransId="{3374291A-FA6A-416B-885A-FA9371D0C1FC}" sibTransId="{496A3040-E385-416A-BA0E-D9768F6FA4E2}"/>
    <dgm:cxn modelId="{45A1DD83-2879-4BC5-B321-584EE2861469}" srcId="{9D5D9505-BD2A-4E4B-8373-3B8D03EED239}" destId="{B6EC08B1-DC7B-4130-8F63-8AF1F9B075E7}" srcOrd="3" destOrd="0" parTransId="{98901424-2B9B-4D15-8222-EC5CAAEB2B41}" sibTransId="{258A3436-507F-4131-9716-5F26A7C59040}"/>
    <dgm:cxn modelId="{C8523C92-5E3A-4F9F-B4BC-10CA2F05F24E}" type="presOf" srcId="{9D5D9505-BD2A-4E4B-8373-3B8D03EED239}" destId="{0EE5A9D8-2CA0-4367-BA97-B4CFD8E2D19A}" srcOrd="0" destOrd="0" presId="urn:microsoft.com/office/officeart/2018/5/layout/CenteredIconLabelDescriptionList"/>
    <dgm:cxn modelId="{49573D9E-851B-452A-9059-AC92828DEE0E}" srcId="{4D2CCA13-4F8E-4D78-8732-AE4E4AFF89CA}" destId="{81053104-0DFC-47FA-BD4F-F9A9BD187CF6}" srcOrd="0" destOrd="0" parTransId="{DA49706F-6852-45C1-A5B9-33A3096ED203}" sibTransId="{41B1B870-33BE-4FEF-B55E-2ECA549140ED}"/>
    <dgm:cxn modelId="{B74EA1A0-591B-4F73-9D57-7CD3D13ED4FC}" type="presOf" srcId="{81053104-0DFC-47FA-BD4F-F9A9BD187CF6}" destId="{32F58674-C68E-4EB8-8B29-30052BFA7E27}" srcOrd="0" destOrd="0" presId="urn:microsoft.com/office/officeart/2018/5/layout/CenteredIconLabelDescriptionList"/>
    <dgm:cxn modelId="{106255A2-6E11-4F74-9684-D035D39D7F62}" srcId="{4D2CCA13-4F8E-4D78-8732-AE4E4AFF89CA}" destId="{9D5D9505-BD2A-4E4B-8373-3B8D03EED239}" srcOrd="1" destOrd="0" parTransId="{4729112D-2250-41B5-AE34-163CB3700AB2}" sibTransId="{1128D2EC-3260-419F-ADDA-F57516B5E9A5}"/>
    <dgm:cxn modelId="{64BB76B1-AFDA-43E7-9C58-AAD2BFED83C5}" srcId="{9D5D9505-BD2A-4E4B-8373-3B8D03EED239}" destId="{4C961836-1281-48CC-841B-3FD34086E39A}" srcOrd="0" destOrd="0" parTransId="{97776A68-5E31-4767-BF68-6FCC4F27A954}" sibTransId="{487A80F3-A06C-4ACA-93A6-039691011775}"/>
    <dgm:cxn modelId="{61E9A1F3-DD1A-4606-B675-B3BA8E5172F1}" type="presOf" srcId="{A4DF7D5B-3705-4076-A67B-F0C6A1E0003F}" destId="{EE06E429-B98A-4356-9BAE-F6F207066AFD}" srcOrd="0" destOrd="2" presId="urn:microsoft.com/office/officeart/2018/5/layout/CenteredIconLabelDescriptionList"/>
    <dgm:cxn modelId="{BF71FE75-4218-4FE5-9830-94E91F1F1FDD}" type="presParOf" srcId="{16CC2670-F1B2-4F07-B6CE-6F7F8E23C975}" destId="{842B1442-9938-4CDE-A03B-E71F22031D0A}" srcOrd="0" destOrd="0" presId="urn:microsoft.com/office/officeart/2018/5/layout/CenteredIconLabelDescriptionList"/>
    <dgm:cxn modelId="{E58E0112-C563-4556-AB14-06B4CA2C4317}" type="presParOf" srcId="{842B1442-9938-4CDE-A03B-E71F22031D0A}" destId="{80CD3060-FEF6-4D74-A2CE-44A5EB5BF32B}" srcOrd="0" destOrd="0" presId="urn:microsoft.com/office/officeart/2018/5/layout/CenteredIconLabelDescriptionList"/>
    <dgm:cxn modelId="{CB300AE8-894A-4948-B0CC-5801FA3C554A}" type="presParOf" srcId="{842B1442-9938-4CDE-A03B-E71F22031D0A}" destId="{6D67B403-27B0-4AF4-9F59-E9FD9B945C28}" srcOrd="1" destOrd="0" presId="urn:microsoft.com/office/officeart/2018/5/layout/CenteredIconLabelDescriptionList"/>
    <dgm:cxn modelId="{F1838C84-588A-4607-8FC5-712EBC211DA8}" type="presParOf" srcId="{842B1442-9938-4CDE-A03B-E71F22031D0A}" destId="{32F58674-C68E-4EB8-8B29-30052BFA7E27}" srcOrd="2" destOrd="0" presId="urn:microsoft.com/office/officeart/2018/5/layout/CenteredIconLabelDescriptionList"/>
    <dgm:cxn modelId="{5C875360-3217-4F0B-B978-E5BC98853623}" type="presParOf" srcId="{842B1442-9938-4CDE-A03B-E71F22031D0A}" destId="{D9E16CC7-77FF-4921-9FAA-FE7421A6F031}" srcOrd="3" destOrd="0" presId="urn:microsoft.com/office/officeart/2018/5/layout/CenteredIconLabelDescriptionList"/>
    <dgm:cxn modelId="{77F530B4-7B85-47E5-A7A6-BB243517CC65}" type="presParOf" srcId="{842B1442-9938-4CDE-A03B-E71F22031D0A}" destId="{31D55FD0-CB09-4314-829D-5E33AAF7E4B1}" srcOrd="4" destOrd="0" presId="urn:microsoft.com/office/officeart/2018/5/layout/CenteredIconLabelDescriptionList"/>
    <dgm:cxn modelId="{08BC8F63-D777-44F1-92E7-22B64FDF24FE}" type="presParOf" srcId="{16CC2670-F1B2-4F07-B6CE-6F7F8E23C975}" destId="{3597AD54-7E4F-4CDC-BE02-434BEA1E9C63}" srcOrd="1" destOrd="0" presId="urn:microsoft.com/office/officeart/2018/5/layout/CenteredIconLabelDescriptionList"/>
    <dgm:cxn modelId="{4F1AE9A7-76A5-46D4-966D-17F11677D420}" type="presParOf" srcId="{16CC2670-F1B2-4F07-B6CE-6F7F8E23C975}" destId="{A0895287-727B-40E6-9215-0835155F3A96}" srcOrd="2" destOrd="0" presId="urn:microsoft.com/office/officeart/2018/5/layout/CenteredIconLabelDescriptionList"/>
    <dgm:cxn modelId="{5A7CE52B-E342-40B3-8CAA-3568ED0D62CB}" type="presParOf" srcId="{A0895287-727B-40E6-9215-0835155F3A96}" destId="{D6891573-247B-4A59-92CD-7E81C6EF92F5}" srcOrd="0" destOrd="0" presId="urn:microsoft.com/office/officeart/2018/5/layout/CenteredIconLabelDescriptionList"/>
    <dgm:cxn modelId="{5F5F83A8-517C-4613-A85B-B6A39D8BE9A6}" type="presParOf" srcId="{A0895287-727B-40E6-9215-0835155F3A96}" destId="{42D840DB-311F-4499-BECD-BC8F482F38CB}" srcOrd="1" destOrd="0" presId="urn:microsoft.com/office/officeart/2018/5/layout/CenteredIconLabelDescriptionList"/>
    <dgm:cxn modelId="{7C905C77-A29A-4E86-9D6E-60F0428C2485}" type="presParOf" srcId="{A0895287-727B-40E6-9215-0835155F3A96}" destId="{0EE5A9D8-2CA0-4367-BA97-B4CFD8E2D19A}" srcOrd="2" destOrd="0" presId="urn:microsoft.com/office/officeart/2018/5/layout/CenteredIconLabelDescriptionList"/>
    <dgm:cxn modelId="{C019E16D-75ED-4074-B9F6-27DC9634814F}" type="presParOf" srcId="{A0895287-727B-40E6-9215-0835155F3A96}" destId="{12B937FA-C3DA-4868-AFE6-F954D27AC1F1}" srcOrd="3" destOrd="0" presId="urn:microsoft.com/office/officeart/2018/5/layout/CenteredIconLabelDescriptionList"/>
    <dgm:cxn modelId="{45D96EB1-9C89-4BFD-9820-C447E819FEDB}" type="presParOf" srcId="{A0895287-727B-40E6-9215-0835155F3A96}" destId="{EE06E429-B98A-4356-9BAE-F6F207066AFD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19B1494-C56E-469D-9CF4-CD4F5CF5E1F5}">
      <dsp:nvSpPr>
        <dsp:cNvPr id="0" name=""/>
        <dsp:cNvSpPr/>
      </dsp:nvSpPr>
      <dsp:spPr>
        <a:xfrm>
          <a:off x="0" y="0"/>
          <a:ext cx="9288654" cy="125784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i="0" kern="1200" baseline="0"/>
            <a:t>Static Signatures:</a:t>
          </a:r>
          <a:r>
            <a:rPr lang="en-US" sz="2300" b="0" i="0" kern="1200" baseline="0"/>
            <a:t> Traditional IDS relies on known signatures. </a:t>
          </a:r>
          <a:br>
            <a:rPr lang="en-US" sz="2300" b="0" i="0" kern="1200" baseline="0"/>
          </a:br>
          <a:r>
            <a:rPr lang="en-US" sz="2300" b="0" i="0" kern="1200" baseline="0"/>
            <a:t>If the attack is a "Zero-Day" (new), the firewall is blind.</a:t>
          </a:r>
          <a:br>
            <a:rPr lang="en-US" sz="2300" b="0" i="0" kern="1200" baseline="0"/>
          </a:br>
          <a:endParaRPr lang="en-US" sz="2300" kern="1200"/>
        </a:p>
      </dsp:txBody>
      <dsp:txXfrm>
        <a:off x="36841" y="36841"/>
        <a:ext cx="7931345" cy="1184159"/>
      </dsp:txXfrm>
    </dsp:sp>
    <dsp:sp modelId="{1190603E-DB46-4543-86BF-AF00439139D8}">
      <dsp:nvSpPr>
        <dsp:cNvPr id="0" name=""/>
        <dsp:cNvSpPr/>
      </dsp:nvSpPr>
      <dsp:spPr>
        <a:xfrm>
          <a:off x="819587" y="1467481"/>
          <a:ext cx="9288654" cy="125784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i="0" kern="1200" baseline="0"/>
            <a:t>Alert Fatigue:</a:t>
          </a:r>
          <a:r>
            <a:rPr lang="en-US" sz="2300" b="0" i="0" kern="1200" baseline="0"/>
            <a:t> Security teams are overwhelmed by logs.</a:t>
          </a:r>
          <a:br>
            <a:rPr lang="en-US" sz="2300" b="0" i="0" kern="1200" baseline="0"/>
          </a:br>
          <a:endParaRPr lang="en-US" sz="2300" kern="1200"/>
        </a:p>
      </dsp:txBody>
      <dsp:txXfrm>
        <a:off x="856428" y="1504322"/>
        <a:ext cx="7577788" cy="1184159"/>
      </dsp:txXfrm>
    </dsp:sp>
    <dsp:sp modelId="{56A219C9-41A4-47E7-B368-76DA98A3CF8F}">
      <dsp:nvSpPr>
        <dsp:cNvPr id="0" name=""/>
        <dsp:cNvSpPr/>
      </dsp:nvSpPr>
      <dsp:spPr>
        <a:xfrm>
          <a:off x="1639174" y="2934963"/>
          <a:ext cx="9288654" cy="1257841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i="0" kern="1200" baseline="0"/>
            <a:t>Passive vs. Active:</a:t>
          </a:r>
          <a:r>
            <a:rPr lang="en-US" sz="2300" b="0" i="0" kern="1200" baseline="0"/>
            <a:t> Most systems only </a:t>
          </a:r>
          <a:r>
            <a:rPr lang="en-US" sz="2300" b="0" i="1" kern="1200" baseline="0"/>
            <a:t>detect</a:t>
          </a:r>
          <a:r>
            <a:rPr lang="en-US" sz="2300" b="0" i="0" kern="1200" baseline="0"/>
            <a:t> (IDS). </a:t>
          </a:r>
          <a:br>
            <a:rPr lang="en-US" sz="2300" b="0" i="0" kern="1200" baseline="0"/>
          </a:br>
          <a:r>
            <a:rPr lang="en-US" sz="2300" b="0" i="0" kern="1200" baseline="0"/>
            <a:t>We need a system that </a:t>
          </a:r>
          <a:r>
            <a:rPr lang="en-US" sz="2300" b="0" i="1" kern="1200" baseline="0"/>
            <a:t>prevents</a:t>
          </a:r>
          <a:r>
            <a:rPr lang="en-US" sz="2300" b="0" i="0" kern="1200" baseline="0"/>
            <a:t> (IPS) in real-time.</a:t>
          </a:r>
          <a:endParaRPr lang="en-US" sz="2300" kern="1200"/>
        </a:p>
      </dsp:txBody>
      <dsp:txXfrm>
        <a:off x="1676015" y="2971804"/>
        <a:ext cx="7577788" cy="1184159"/>
      </dsp:txXfrm>
    </dsp:sp>
    <dsp:sp modelId="{16C4A8B0-CE33-462F-95FE-AB2D4A290891}">
      <dsp:nvSpPr>
        <dsp:cNvPr id="0" name=""/>
        <dsp:cNvSpPr/>
      </dsp:nvSpPr>
      <dsp:spPr>
        <a:xfrm>
          <a:off x="8471057" y="953863"/>
          <a:ext cx="817596" cy="817596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8655016" y="953863"/>
        <a:ext cx="449678" cy="615241"/>
      </dsp:txXfrm>
    </dsp:sp>
    <dsp:sp modelId="{3EAB6908-6150-413E-AD3A-89A7DED53EE1}">
      <dsp:nvSpPr>
        <dsp:cNvPr id="0" name=""/>
        <dsp:cNvSpPr/>
      </dsp:nvSpPr>
      <dsp:spPr>
        <a:xfrm>
          <a:off x="9290644" y="2412959"/>
          <a:ext cx="817596" cy="817596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9474603" y="2412959"/>
        <a:ext cx="449678" cy="61524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CD3060-FEF6-4D74-A2CE-44A5EB5BF32B}">
      <dsp:nvSpPr>
        <dsp:cNvPr id="0" name=""/>
        <dsp:cNvSpPr/>
      </dsp:nvSpPr>
      <dsp:spPr>
        <a:xfrm>
          <a:off x="2176344" y="76610"/>
          <a:ext cx="1509048" cy="145532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2F58674-C68E-4EB8-8B29-30052BFA7E27}">
      <dsp:nvSpPr>
        <dsp:cNvPr id="0" name=""/>
        <dsp:cNvSpPr/>
      </dsp:nvSpPr>
      <dsp:spPr>
        <a:xfrm>
          <a:off x="775085" y="1705635"/>
          <a:ext cx="4311566" cy="17168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b="1" i="0" kern="1200" baseline="0"/>
            <a:t>The Concept:</a:t>
          </a:r>
          <a:r>
            <a:rPr lang="en-US" sz="1400" b="0" i="0" kern="1200" baseline="0"/>
            <a:t> A closed feedback loop.</a:t>
          </a:r>
          <a:br>
            <a:rPr lang="en-US" sz="1400" b="0" i="0" kern="1200" baseline="0"/>
          </a:br>
          <a:br>
            <a:rPr lang="en-US" sz="1400" b="0" i="0" kern="1200" baseline="0"/>
          </a:br>
          <a:r>
            <a:rPr lang="en-US" sz="1400" b="0" i="0" kern="1200" baseline="0"/>
            <a:t>"</a:t>
          </a:r>
          <a:r>
            <a:rPr lang="en-US" sz="1400" b="0" i="1" kern="1200" baseline="0"/>
            <a:t>Neuro Sentinel operates like a biological system. It has eyes to see network traffic, a cortex to </a:t>
          </a:r>
          <a:br>
            <a:rPr lang="en-US" sz="1400" b="0" i="1" kern="1200" baseline="0"/>
          </a:br>
          <a:r>
            <a:rPr lang="en-US" sz="1400" b="0" i="1" kern="1200" baseline="0"/>
            <a:t>process the data, a brain to make decisions, and hands to physically block the threat. </a:t>
          </a:r>
          <a:br>
            <a:rPr lang="en-US" sz="1400" b="0" i="1" kern="1200" baseline="0"/>
          </a:br>
          <a:r>
            <a:rPr lang="en-US" sz="1400" b="0" i="1" kern="1200" baseline="0"/>
            <a:t>All of this happens in a closed loop within a Dockerized environment.</a:t>
          </a:r>
          <a:r>
            <a:rPr lang="en-US" sz="1400" b="0" i="0" kern="1200" baseline="0"/>
            <a:t>“ – Generated by Gemini AI</a:t>
          </a:r>
          <a:br>
            <a:rPr lang="en-US" sz="1400" b="0" i="0" kern="1200" baseline="0"/>
          </a:br>
          <a:endParaRPr lang="en-US" sz="1400" kern="1200"/>
        </a:p>
      </dsp:txBody>
      <dsp:txXfrm>
        <a:off x="775085" y="1705635"/>
        <a:ext cx="4311566" cy="1716878"/>
      </dsp:txXfrm>
    </dsp:sp>
    <dsp:sp modelId="{31D55FD0-CB09-4314-829D-5E33AAF7E4B1}">
      <dsp:nvSpPr>
        <dsp:cNvPr id="0" name=""/>
        <dsp:cNvSpPr/>
      </dsp:nvSpPr>
      <dsp:spPr>
        <a:xfrm>
          <a:off x="775085" y="3503306"/>
          <a:ext cx="4311566" cy="6128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6891573-247B-4A59-92CD-7E81C6EF92F5}">
      <dsp:nvSpPr>
        <dsp:cNvPr id="0" name=""/>
        <dsp:cNvSpPr/>
      </dsp:nvSpPr>
      <dsp:spPr>
        <a:xfrm>
          <a:off x="7242435" y="76610"/>
          <a:ext cx="1509048" cy="145532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E5A9D8-2CA0-4367-BA97-B4CFD8E2D19A}">
      <dsp:nvSpPr>
        <dsp:cNvPr id="0" name=""/>
        <dsp:cNvSpPr/>
      </dsp:nvSpPr>
      <dsp:spPr>
        <a:xfrm>
          <a:off x="5841176" y="1705635"/>
          <a:ext cx="4311566" cy="17168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b="1" i="0" kern="1200" baseline="0"/>
            <a:t>The Components:</a:t>
          </a:r>
          <a:endParaRPr lang="en-US" sz="1400" kern="1200"/>
        </a:p>
      </dsp:txBody>
      <dsp:txXfrm>
        <a:off x="5841176" y="1705635"/>
        <a:ext cx="4311566" cy="1716878"/>
      </dsp:txXfrm>
    </dsp:sp>
    <dsp:sp modelId="{EE06E429-B98A-4356-9BAE-F6F207066AFD}">
      <dsp:nvSpPr>
        <dsp:cNvPr id="0" name=""/>
        <dsp:cNvSpPr/>
      </dsp:nvSpPr>
      <dsp:spPr>
        <a:xfrm>
          <a:off x="5813755" y="2080652"/>
          <a:ext cx="4311566" cy="6128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i="0" kern="1200" baseline="0" dirty="0"/>
            <a:t>The Eyes:</a:t>
          </a:r>
          <a:r>
            <a:rPr lang="en-US" sz="1100" b="0" i="0" kern="1200" baseline="0" dirty="0"/>
            <a:t> Suricata (Network Flow Data).</a:t>
          </a:r>
          <a:endParaRPr lang="en-US" sz="1100" kern="1200" dirty="0"/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i="0" kern="1200" baseline="0" dirty="0"/>
            <a:t>The Cortex:</a:t>
          </a:r>
          <a:r>
            <a:rPr lang="en-US" sz="1100" b="0" i="0" kern="1200" baseline="0" dirty="0"/>
            <a:t> Feature Extraction Engine (Python).</a:t>
          </a:r>
          <a:endParaRPr lang="en-US" sz="1100" kern="1200" dirty="0"/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i="0" kern="1200" baseline="0"/>
            <a:t>The Brain:</a:t>
          </a:r>
          <a:r>
            <a:rPr lang="en-US" sz="1100" b="0" i="0" kern="1200" baseline="0"/>
            <a:t> Random Forest Classifier.</a:t>
          </a:r>
          <a:endParaRPr lang="en-US" sz="1100" kern="1200"/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i="0" kern="1200" baseline="0"/>
            <a:t>The Hands:</a:t>
          </a:r>
          <a:r>
            <a:rPr lang="en-US" sz="1100" b="0" i="0" kern="1200" baseline="0"/>
            <a:t> IPTables (Active Blocking).</a:t>
          </a:r>
          <a:endParaRPr lang="en-US" sz="1100" kern="1200"/>
        </a:p>
      </dsp:txBody>
      <dsp:txXfrm>
        <a:off x="5813755" y="2080652"/>
        <a:ext cx="4311566" cy="6128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zitiv tit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C6B39211-B623-DACC-07DB-6D52B813E9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titlu 2">
            <a:extLst>
              <a:ext uri="{FF2B5EF4-FFF2-40B4-BE49-F238E27FC236}">
                <a16:creationId xmlns:a16="http://schemas.microsoft.com/office/drawing/2014/main" id="{01F2EB8A-72BF-428B-0C60-76F33DF8C0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o-RO"/>
              <a:t>Faceți clic pentru a edita stilul de subtitlu coordonator</a:t>
            </a:r>
            <a:endParaRPr lang="en-US"/>
          </a:p>
        </p:txBody>
      </p:sp>
      <p:sp>
        <p:nvSpPr>
          <p:cNvPr id="4" name="Substituent dată 3">
            <a:extLst>
              <a:ext uri="{FF2B5EF4-FFF2-40B4-BE49-F238E27FC236}">
                <a16:creationId xmlns:a16="http://schemas.microsoft.com/office/drawing/2014/main" id="{8806C9E4-B537-4B80-C8C1-9CCF8F8EAA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F4840-E524-4A8D-9559-385C6389EAB0}" type="datetimeFigureOut">
              <a:rPr lang="en-US" smtClean="0"/>
              <a:t>18-Jan-26</a:t>
            </a:fld>
            <a:endParaRPr lang="en-US"/>
          </a:p>
        </p:txBody>
      </p:sp>
      <p:sp>
        <p:nvSpPr>
          <p:cNvPr id="5" name="Substituent subsol 4">
            <a:extLst>
              <a:ext uri="{FF2B5EF4-FFF2-40B4-BE49-F238E27FC236}">
                <a16:creationId xmlns:a16="http://schemas.microsoft.com/office/drawing/2014/main" id="{8F2AB098-EF41-9230-FD12-7A655EB33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ubstituent număr diapozitiv 5">
            <a:extLst>
              <a:ext uri="{FF2B5EF4-FFF2-40B4-BE49-F238E27FC236}">
                <a16:creationId xmlns:a16="http://schemas.microsoft.com/office/drawing/2014/main" id="{EC4D8926-708E-A16D-953D-3AE790001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7312E-5D62-42C8-96AE-DF5D8F275B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970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u și conțin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E35DFE7B-61A6-C629-E8E7-9675E5CE1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ED2C17EF-1250-8EC9-74D4-FF6245FE86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4" name="Substituent dată 3">
            <a:extLst>
              <a:ext uri="{FF2B5EF4-FFF2-40B4-BE49-F238E27FC236}">
                <a16:creationId xmlns:a16="http://schemas.microsoft.com/office/drawing/2014/main" id="{492F5454-C605-11FC-C873-799E06345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F4840-E524-4A8D-9559-385C6389EAB0}" type="datetimeFigureOut">
              <a:rPr lang="en-US" smtClean="0"/>
              <a:t>18-Jan-26</a:t>
            </a:fld>
            <a:endParaRPr lang="en-US"/>
          </a:p>
        </p:txBody>
      </p:sp>
      <p:sp>
        <p:nvSpPr>
          <p:cNvPr id="5" name="Substituent subsol 4">
            <a:extLst>
              <a:ext uri="{FF2B5EF4-FFF2-40B4-BE49-F238E27FC236}">
                <a16:creationId xmlns:a16="http://schemas.microsoft.com/office/drawing/2014/main" id="{6D1AB1E7-2749-C663-D12A-49505DF33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ubstituent număr diapozitiv 5">
            <a:extLst>
              <a:ext uri="{FF2B5EF4-FFF2-40B4-BE49-F238E27FC236}">
                <a16:creationId xmlns:a16="http://schemas.microsoft.com/office/drawing/2014/main" id="{B627BF27-4921-1831-5A75-C27CE6958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7312E-5D62-42C8-96AE-DF5D8F275B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0029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ntet secțiu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B4135F97-6518-B053-5296-81A1DF290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text 2">
            <a:extLst>
              <a:ext uri="{FF2B5EF4-FFF2-40B4-BE49-F238E27FC236}">
                <a16:creationId xmlns:a16="http://schemas.microsoft.com/office/drawing/2014/main" id="{E5BEA2AE-BD66-7C48-34BF-396E774F34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4" name="Substituent dată 3">
            <a:extLst>
              <a:ext uri="{FF2B5EF4-FFF2-40B4-BE49-F238E27FC236}">
                <a16:creationId xmlns:a16="http://schemas.microsoft.com/office/drawing/2014/main" id="{2D10D78F-F6E3-5EE1-DB77-51A4150A2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F4840-E524-4A8D-9559-385C6389EAB0}" type="datetimeFigureOut">
              <a:rPr lang="en-US" smtClean="0"/>
              <a:t>18-Jan-26</a:t>
            </a:fld>
            <a:endParaRPr lang="en-US"/>
          </a:p>
        </p:txBody>
      </p:sp>
      <p:sp>
        <p:nvSpPr>
          <p:cNvPr id="5" name="Substituent subsol 4">
            <a:extLst>
              <a:ext uri="{FF2B5EF4-FFF2-40B4-BE49-F238E27FC236}">
                <a16:creationId xmlns:a16="http://schemas.microsoft.com/office/drawing/2014/main" id="{1DC63C6D-D651-C997-24B1-19F65AFD3D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ubstituent număr diapozitiv 5">
            <a:extLst>
              <a:ext uri="{FF2B5EF4-FFF2-40B4-BE49-F238E27FC236}">
                <a16:creationId xmlns:a16="http://schemas.microsoft.com/office/drawing/2014/main" id="{A41DFEF0-AA5C-0900-1F1F-650281266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7312E-5D62-42C8-96AE-DF5D8F275B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42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uă tipuri de conțin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8BBE6D9C-2A26-E603-5FF0-B36098219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E40DABD6-E4F9-6256-7563-179B51530B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4" name="Substituent conținut 3">
            <a:extLst>
              <a:ext uri="{FF2B5EF4-FFF2-40B4-BE49-F238E27FC236}">
                <a16:creationId xmlns:a16="http://schemas.microsoft.com/office/drawing/2014/main" id="{C8B131F6-C618-E00A-89F6-C34D193CE7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5" name="Substituent dată 4">
            <a:extLst>
              <a:ext uri="{FF2B5EF4-FFF2-40B4-BE49-F238E27FC236}">
                <a16:creationId xmlns:a16="http://schemas.microsoft.com/office/drawing/2014/main" id="{892F31E7-9F42-5A2F-8B3A-9550964A83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F4840-E524-4A8D-9559-385C6389EAB0}" type="datetimeFigureOut">
              <a:rPr lang="en-US" smtClean="0"/>
              <a:t>18-Jan-26</a:t>
            </a:fld>
            <a:endParaRPr lang="en-US"/>
          </a:p>
        </p:txBody>
      </p:sp>
      <p:sp>
        <p:nvSpPr>
          <p:cNvPr id="6" name="Substituent subsol 5">
            <a:extLst>
              <a:ext uri="{FF2B5EF4-FFF2-40B4-BE49-F238E27FC236}">
                <a16:creationId xmlns:a16="http://schemas.microsoft.com/office/drawing/2014/main" id="{F5C078CD-339F-0A32-9370-FCEE776E2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ubstituent număr diapozitiv 6">
            <a:extLst>
              <a:ext uri="{FF2B5EF4-FFF2-40B4-BE49-F238E27FC236}">
                <a16:creationId xmlns:a16="http://schemas.microsoft.com/office/drawing/2014/main" id="{D236CB0C-B39C-9997-135A-5329F6F6F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7312E-5D62-42C8-96AE-DF5D8F275B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2610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ț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A6F71732-DD3F-8F94-8584-4CDFBD3EE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text 2">
            <a:extLst>
              <a:ext uri="{FF2B5EF4-FFF2-40B4-BE49-F238E27FC236}">
                <a16:creationId xmlns:a16="http://schemas.microsoft.com/office/drawing/2014/main" id="{CCD3F810-5DA1-BEAC-C25F-74D2F155B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4" name="Substituent conținut 3">
            <a:extLst>
              <a:ext uri="{FF2B5EF4-FFF2-40B4-BE49-F238E27FC236}">
                <a16:creationId xmlns:a16="http://schemas.microsoft.com/office/drawing/2014/main" id="{C1DFF42C-5BAC-E88F-D713-A936A26EC7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5" name="Substituent text 4">
            <a:extLst>
              <a:ext uri="{FF2B5EF4-FFF2-40B4-BE49-F238E27FC236}">
                <a16:creationId xmlns:a16="http://schemas.microsoft.com/office/drawing/2014/main" id="{F186817E-B527-5FBB-8C6E-16D3791345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6" name="Substituent conținut 5">
            <a:extLst>
              <a:ext uri="{FF2B5EF4-FFF2-40B4-BE49-F238E27FC236}">
                <a16:creationId xmlns:a16="http://schemas.microsoft.com/office/drawing/2014/main" id="{56B2CEB8-F637-C77D-8050-37321B712B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7" name="Substituent dată 6">
            <a:extLst>
              <a:ext uri="{FF2B5EF4-FFF2-40B4-BE49-F238E27FC236}">
                <a16:creationId xmlns:a16="http://schemas.microsoft.com/office/drawing/2014/main" id="{8CF016A5-509A-6B79-01C6-C9C57E5C4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F4840-E524-4A8D-9559-385C6389EAB0}" type="datetimeFigureOut">
              <a:rPr lang="en-US" smtClean="0"/>
              <a:t>18-Jan-26</a:t>
            </a:fld>
            <a:endParaRPr lang="en-US"/>
          </a:p>
        </p:txBody>
      </p:sp>
      <p:sp>
        <p:nvSpPr>
          <p:cNvPr id="8" name="Substituent subsol 7">
            <a:extLst>
              <a:ext uri="{FF2B5EF4-FFF2-40B4-BE49-F238E27FC236}">
                <a16:creationId xmlns:a16="http://schemas.microsoft.com/office/drawing/2014/main" id="{AE064F1C-497A-74FA-894A-01F6A06FB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ubstituent număr diapozitiv 8">
            <a:extLst>
              <a:ext uri="{FF2B5EF4-FFF2-40B4-BE49-F238E27FC236}">
                <a16:creationId xmlns:a16="http://schemas.microsoft.com/office/drawing/2014/main" id="{A882D6D8-DF0F-A8DD-5345-7275ABDD9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7312E-5D62-42C8-96AE-DF5D8F275B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346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oar tit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2A3BE6F5-DB79-70A5-7DF6-12CE8AAF1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dată 2">
            <a:extLst>
              <a:ext uri="{FF2B5EF4-FFF2-40B4-BE49-F238E27FC236}">
                <a16:creationId xmlns:a16="http://schemas.microsoft.com/office/drawing/2014/main" id="{6AD84C34-3084-B268-5BEE-9F5AED506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F4840-E524-4A8D-9559-385C6389EAB0}" type="datetimeFigureOut">
              <a:rPr lang="en-US" smtClean="0"/>
              <a:t>18-Jan-26</a:t>
            </a:fld>
            <a:endParaRPr lang="en-US"/>
          </a:p>
        </p:txBody>
      </p:sp>
      <p:sp>
        <p:nvSpPr>
          <p:cNvPr id="4" name="Substituent subsol 3">
            <a:extLst>
              <a:ext uri="{FF2B5EF4-FFF2-40B4-BE49-F238E27FC236}">
                <a16:creationId xmlns:a16="http://schemas.microsoft.com/office/drawing/2014/main" id="{590F8E25-DC59-3723-89C2-444848464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stituent număr diapozitiv 4">
            <a:extLst>
              <a:ext uri="{FF2B5EF4-FFF2-40B4-BE49-F238E27FC236}">
                <a16:creationId xmlns:a16="http://schemas.microsoft.com/office/drawing/2014/main" id="{F09737FE-0E63-7AE9-807F-A09443F47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7312E-5D62-42C8-96AE-DF5D8F275B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187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Necomple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dată 1">
            <a:extLst>
              <a:ext uri="{FF2B5EF4-FFF2-40B4-BE49-F238E27FC236}">
                <a16:creationId xmlns:a16="http://schemas.microsoft.com/office/drawing/2014/main" id="{1A3092A4-E8A1-1870-4A56-A4179EB73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F4840-E524-4A8D-9559-385C6389EAB0}" type="datetimeFigureOut">
              <a:rPr lang="en-US" smtClean="0"/>
              <a:t>18-Jan-26</a:t>
            </a:fld>
            <a:endParaRPr lang="en-US"/>
          </a:p>
        </p:txBody>
      </p:sp>
      <p:sp>
        <p:nvSpPr>
          <p:cNvPr id="3" name="Substituent subsol 2">
            <a:extLst>
              <a:ext uri="{FF2B5EF4-FFF2-40B4-BE49-F238E27FC236}">
                <a16:creationId xmlns:a16="http://schemas.microsoft.com/office/drawing/2014/main" id="{99A2FC68-2325-F4F5-DDC1-D3DF2FA0D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ubstituent număr diapozitiv 3">
            <a:extLst>
              <a:ext uri="{FF2B5EF4-FFF2-40B4-BE49-F238E27FC236}">
                <a16:creationId xmlns:a16="http://schemas.microsoft.com/office/drawing/2014/main" id="{8C3CFC47-D07E-F3AC-A116-478AE8CB7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7312E-5D62-42C8-96AE-DF5D8F275B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617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ținut cu legend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541760B6-9467-C584-9648-77CC5DFF0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44B2CED7-44E4-A368-6C44-85FB6304EE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4" name="Substituent text 3">
            <a:extLst>
              <a:ext uri="{FF2B5EF4-FFF2-40B4-BE49-F238E27FC236}">
                <a16:creationId xmlns:a16="http://schemas.microsoft.com/office/drawing/2014/main" id="{10E9E370-0C14-988D-C262-2B29CFECD0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5" name="Substituent dată 4">
            <a:extLst>
              <a:ext uri="{FF2B5EF4-FFF2-40B4-BE49-F238E27FC236}">
                <a16:creationId xmlns:a16="http://schemas.microsoft.com/office/drawing/2014/main" id="{FDB9F052-9B36-200D-107E-8220D065A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F4840-E524-4A8D-9559-385C6389EAB0}" type="datetimeFigureOut">
              <a:rPr lang="en-US" smtClean="0"/>
              <a:t>18-Jan-26</a:t>
            </a:fld>
            <a:endParaRPr lang="en-US"/>
          </a:p>
        </p:txBody>
      </p:sp>
      <p:sp>
        <p:nvSpPr>
          <p:cNvPr id="6" name="Substituent subsol 5">
            <a:extLst>
              <a:ext uri="{FF2B5EF4-FFF2-40B4-BE49-F238E27FC236}">
                <a16:creationId xmlns:a16="http://schemas.microsoft.com/office/drawing/2014/main" id="{D024CC20-D130-ED0F-B3DB-A965D9F02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ubstituent număr diapozitiv 6">
            <a:extLst>
              <a:ext uri="{FF2B5EF4-FFF2-40B4-BE49-F238E27FC236}">
                <a16:creationId xmlns:a16="http://schemas.microsoft.com/office/drawing/2014/main" id="{237E913B-CC6A-A0E7-D649-3F0C9952E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7312E-5D62-42C8-96AE-DF5D8F275B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4039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ine cu legend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A3BD36D8-EF03-76B1-0968-AE857D471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imagine 2">
            <a:extLst>
              <a:ext uri="{FF2B5EF4-FFF2-40B4-BE49-F238E27FC236}">
                <a16:creationId xmlns:a16="http://schemas.microsoft.com/office/drawing/2014/main" id="{646E6367-7F0C-44DB-83DC-678CF93D1B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Substituent text 3">
            <a:extLst>
              <a:ext uri="{FF2B5EF4-FFF2-40B4-BE49-F238E27FC236}">
                <a16:creationId xmlns:a16="http://schemas.microsoft.com/office/drawing/2014/main" id="{8F2C5504-A6A5-18C2-8AED-6F3C4F742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5" name="Substituent dată 4">
            <a:extLst>
              <a:ext uri="{FF2B5EF4-FFF2-40B4-BE49-F238E27FC236}">
                <a16:creationId xmlns:a16="http://schemas.microsoft.com/office/drawing/2014/main" id="{6C7169BF-B789-543D-48DC-CC7979D2B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F4840-E524-4A8D-9559-385C6389EAB0}" type="datetimeFigureOut">
              <a:rPr lang="en-US" smtClean="0"/>
              <a:t>18-Jan-26</a:t>
            </a:fld>
            <a:endParaRPr lang="en-US"/>
          </a:p>
        </p:txBody>
      </p:sp>
      <p:sp>
        <p:nvSpPr>
          <p:cNvPr id="6" name="Substituent subsol 5">
            <a:extLst>
              <a:ext uri="{FF2B5EF4-FFF2-40B4-BE49-F238E27FC236}">
                <a16:creationId xmlns:a16="http://schemas.microsoft.com/office/drawing/2014/main" id="{C8A3EE9C-63A4-ACBD-568D-EA490FD9D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ubstituent număr diapozitiv 6">
            <a:extLst>
              <a:ext uri="{FF2B5EF4-FFF2-40B4-BE49-F238E27FC236}">
                <a16:creationId xmlns:a16="http://schemas.microsoft.com/office/drawing/2014/main" id="{AD624673-9DDC-F597-3828-E17CEDA70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7312E-5D62-42C8-96AE-DF5D8F275B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6415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ext vertical și tit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DCF36250-4EB4-286D-FE75-961A51F78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text vertical 2">
            <a:extLst>
              <a:ext uri="{FF2B5EF4-FFF2-40B4-BE49-F238E27FC236}">
                <a16:creationId xmlns:a16="http://schemas.microsoft.com/office/drawing/2014/main" id="{4F9096D0-18E0-4CA9-8017-166B4073F5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4" name="Substituent dată 3">
            <a:extLst>
              <a:ext uri="{FF2B5EF4-FFF2-40B4-BE49-F238E27FC236}">
                <a16:creationId xmlns:a16="http://schemas.microsoft.com/office/drawing/2014/main" id="{C57B5879-E4C6-6E8E-D1F6-C94A649A7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F4840-E524-4A8D-9559-385C6389EAB0}" type="datetimeFigureOut">
              <a:rPr lang="en-US" smtClean="0"/>
              <a:t>18-Jan-26</a:t>
            </a:fld>
            <a:endParaRPr lang="en-US"/>
          </a:p>
        </p:txBody>
      </p:sp>
      <p:sp>
        <p:nvSpPr>
          <p:cNvPr id="5" name="Substituent subsol 4">
            <a:extLst>
              <a:ext uri="{FF2B5EF4-FFF2-40B4-BE49-F238E27FC236}">
                <a16:creationId xmlns:a16="http://schemas.microsoft.com/office/drawing/2014/main" id="{593F72F6-E813-074C-5033-EEEBC3288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ubstituent număr diapozitiv 5">
            <a:extLst>
              <a:ext uri="{FF2B5EF4-FFF2-40B4-BE49-F238E27FC236}">
                <a16:creationId xmlns:a16="http://schemas.microsoft.com/office/drawing/2014/main" id="{BA17781E-A48A-5ADA-BFE9-2AE3B3EB4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7312E-5D62-42C8-96AE-DF5D8F275B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108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lu vertical și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vertical 1">
            <a:extLst>
              <a:ext uri="{FF2B5EF4-FFF2-40B4-BE49-F238E27FC236}">
                <a16:creationId xmlns:a16="http://schemas.microsoft.com/office/drawing/2014/main" id="{EC9757DA-9BA1-BC60-969E-6448E28335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text vertical 2">
            <a:extLst>
              <a:ext uri="{FF2B5EF4-FFF2-40B4-BE49-F238E27FC236}">
                <a16:creationId xmlns:a16="http://schemas.microsoft.com/office/drawing/2014/main" id="{8D59F94E-AEEC-6CBA-8EBB-D2F5C989CE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4" name="Substituent dată 3">
            <a:extLst>
              <a:ext uri="{FF2B5EF4-FFF2-40B4-BE49-F238E27FC236}">
                <a16:creationId xmlns:a16="http://schemas.microsoft.com/office/drawing/2014/main" id="{154F0EF6-E107-F211-8883-E827A7A3B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F4840-E524-4A8D-9559-385C6389EAB0}" type="datetimeFigureOut">
              <a:rPr lang="en-US" smtClean="0"/>
              <a:t>18-Jan-26</a:t>
            </a:fld>
            <a:endParaRPr lang="en-US"/>
          </a:p>
        </p:txBody>
      </p:sp>
      <p:sp>
        <p:nvSpPr>
          <p:cNvPr id="5" name="Substituent subsol 4">
            <a:extLst>
              <a:ext uri="{FF2B5EF4-FFF2-40B4-BE49-F238E27FC236}">
                <a16:creationId xmlns:a16="http://schemas.microsoft.com/office/drawing/2014/main" id="{88F8FB01-81B4-CC06-4B4F-5D67C87D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ubstituent număr diapozitiv 5">
            <a:extLst>
              <a:ext uri="{FF2B5EF4-FFF2-40B4-BE49-F238E27FC236}">
                <a16:creationId xmlns:a16="http://schemas.microsoft.com/office/drawing/2014/main" id="{BA894649-CC8E-4E73-3D23-3102A4F29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7312E-5D62-42C8-96AE-DF5D8F275B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986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titlu 1">
            <a:extLst>
              <a:ext uri="{FF2B5EF4-FFF2-40B4-BE49-F238E27FC236}">
                <a16:creationId xmlns:a16="http://schemas.microsoft.com/office/drawing/2014/main" id="{B96A859D-B106-E4C4-E394-8ACE86FAE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text 2">
            <a:extLst>
              <a:ext uri="{FF2B5EF4-FFF2-40B4-BE49-F238E27FC236}">
                <a16:creationId xmlns:a16="http://schemas.microsoft.com/office/drawing/2014/main" id="{BCE33B6C-0D69-1820-6C6A-5EC1EFF6C7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4" name="Substituent dată 3">
            <a:extLst>
              <a:ext uri="{FF2B5EF4-FFF2-40B4-BE49-F238E27FC236}">
                <a16:creationId xmlns:a16="http://schemas.microsoft.com/office/drawing/2014/main" id="{D2CCB86E-DF15-35A2-34CE-BAB870EB23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FF4840-E524-4A8D-9559-385C6389EAB0}" type="datetimeFigureOut">
              <a:rPr lang="en-US" smtClean="0"/>
              <a:t>18-Jan-26</a:t>
            </a:fld>
            <a:endParaRPr lang="en-US"/>
          </a:p>
        </p:txBody>
      </p:sp>
      <p:sp>
        <p:nvSpPr>
          <p:cNvPr id="5" name="Substituent subsol 4">
            <a:extLst>
              <a:ext uri="{FF2B5EF4-FFF2-40B4-BE49-F238E27FC236}">
                <a16:creationId xmlns:a16="http://schemas.microsoft.com/office/drawing/2014/main" id="{B4E87601-EB02-61A0-7A31-2E842155BF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ubstituent număr diapozitiv 5">
            <a:extLst>
              <a:ext uri="{FF2B5EF4-FFF2-40B4-BE49-F238E27FC236}">
                <a16:creationId xmlns:a16="http://schemas.microsoft.com/office/drawing/2014/main" id="{A7CD391A-E288-BD75-A30E-906F97CBD1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57312E-5D62-42C8-96AE-DF5D8F275B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034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9">
            <a:extLst>
              <a:ext uri="{FF2B5EF4-FFF2-40B4-BE49-F238E27FC236}">
                <a16:creationId xmlns:a16="http://schemas.microsoft.com/office/drawing/2014/main" id="{6F828D28-8E09-41CC-8229-3070B5467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ine 4" descr="O imagine care conține text, captură de ecran, Grafică, design grafic&#10;&#10;Conținutul generat de inteligența artificială poate fi incorect.">
            <a:extLst>
              <a:ext uri="{FF2B5EF4-FFF2-40B4-BE49-F238E27FC236}">
                <a16:creationId xmlns:a16="http://schemas.microsoft.com/office/drawing/2014/main" id="{1FDFDC9A-1A0B-A055-7F6B-5D3E0C6177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8" r="1614" b="1"/>
          <a:stretch>
            <a:fillRect/>
          </a:stretch>
        </p:blipFill>
        <p:spPr>
          <a:xfrm>
            <a:off x="20" y="-22"/>
            <a:ext cx="12191977" cy="6858022"/>
          </a:xfrm>
          <a:prstGeom prst="rect">
            <a:avLst/>
          </a:prstGeom>
        </p:spPr>
      </p:pic>
      <p:sp>
        <p:nvSpPr>
          <p:cNvPr id="17" name="Rectangle 11">
            <a:extLst>
              <a:ext uri="{FF2B5EF4-FFF2-40B4-BE49-F238E27FC236}">
                <a16:creationId xmlns:a16="http://schemas.microsoft.com/office/drawing/2014/main" id="{D5B012D8-7F27-4758-9AC6-C889B154BD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103377" y="1100316"/>
            <a:ext cx="6858003" cy="4657347"/>
          </a:xfrm>
          <a:prstGeom prst="rect">
            <a:avLst/>
          </a:prstGeom>
          <a:gradFill flip="none" rotWithShape="1">
            <a:gsLst>
              <a:gs pos="48000">
                <a:srgbClr val="000000">
                  <a:alpha val="24000"/>
                </a:srgbClr>
              </a:gs>
              <a:gs pos="85000">
                <a:srgbClr val="000000">
                  <a:alpha val="45000"/>
                </a:srgbClr>
              </a:gs>
              <a:gs pos="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u 2">
            <a:extLst>
              <a:ext uri="{FF2B5EF4-FFF2-40B4-BE49-F238E27FC236}">
                <a16:creationId xmlns:a16="http://schemas.microsoft.com/office/drawing/2014/main" id="{C671580B-5779-39D6-49B8-70D8A35BD0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466" y="4551037"/>
            <a:ext cx="5449479" cy="1578054"/>
          </a:xfrm>
        </p:spPr>
        <p:txBody>
          <a:bodyPr anchor="b">
            <a:normAutofit/>
          </a:bodyPr>
          <a:lstStyle/>
          <a:p>
            <a:pPr algn="l"/>
            <a:r>
              <a:rPr lang="en-US">
                <a:solidFill>
                  <a:srgbClr val="FFFFFF"/>
                </a:solidFill>
              </a:rPr>
              <a:t>Razvan BANATEANU</a:t>
            </a:r>
            <a:br>
              <a:rPr lang="en-US">
                <a:solidFill>
                  <a:srgbClr val="FFFFFF"/>
                </a:solidFill>
              </a:rPr>
            </a:br>
            <a:r>
              <a:rPr lang="en-US">
                <a:solidFill>
                  <a:srgbClr val="FFFFFF"/>
                </a:solidFill>
              </a:rPr>
              <a:t>Marian-Vladut ADAM</a:t>
            </a:r>
          </a:p>
        </p:txBody>
      </p:sp>
      <p:sp>
        <p:nvSpPr>
          <p:cNvPr id="18" name="Rectangle 13">
            <a:extLst>
              <a:ext uri="{FF2B5EF4-FFF2-40B4-BE49-F238E27FC236}">
                <a16:creationId xmlns:a16="http://schemas.microsoft.com/office/drawing/2014/main" id="{4063B759-00FC-46D1-9898-8E8625268F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40187" y="2206184"/>
            <a:ext cx="6858003" cy="2445624"/>
          </a:xfrm>
          <a:prstGeom prst="rect">
            <a:avLst/>
          </a:prstGeom>
          <a:gradFill flip="none" rotWithShape="1">
            <a:gsLst>
              <a:gs pos="48000">
                <a:srgbClr val="000000">
                  <a:alpha val="24000"/>
                </a:srgbClr>
              </a:gs>
              <a:gs pos="85000">
                <a:srgbClr val="000000">
                  <a:alpha val="45000"/>
                </a:srgbClr>
              </a:gs>
              <a:gs pos="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6136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u 1">
            <a:extLst>
              <a:ext uri="{FF2B5EF4-FFF2-40B4-BE49-F238E27FC236}">
                <a16:creationId xmlns:a16="http://schemas.microsoft.com/office/drawing/2014/main" id="{B94D8453-14F7-24E5-2301-7748F9156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Why Traditional Firewalls Aren't Enough</a:t>
            </a:r>
          </a:p>
        </p:txBody>
      </p:sp>
      <p:graphicFrame>
        <p:nvGraphicFramePr>
          <p:cNvPr id="7" name="Rectangle 2">
            <a:extLst>
              <a:ext uri="{FF2B5EF4-FFF2-40B4-BE49-F238E27FC236}">
                <a16:creationId xmlns:a16="http://schemas.microsoft.com/office/drawing/2014/main" id="{14043F0E-5095-5E4C-6A96-1C5472FCA4C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83258286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83412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u 1">
            <a:extLst>
              <a:ext uri="{FF2B5EF4-FFF2-40B4-BE49-F238E27FC236}">
                <a16:creationId xmlns:a16="http://schemas.microsoft.com/office/drawing/2014/main" id="{88A866BC-049E-42D9-E69E-8F86870A3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Neuro Sentinel Architecture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C28B7021-5397-7DA7-7056-BDFBDB3EB6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4713474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043676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u 1">
            <a:extLst>
              <a:ext uri="{FF2B5EF4-FFF2-40B4-BE49-F238E27FC236}">
                <a16:creationId xmlns:a16="http://schemas.microsoft.com/office/drawing/2014/main" id="{CC9E893D-B117-40E9-00B1-8773B5731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Input: Suricata Flow Data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CD57E91-139A-3333-2281-61832732E37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371599" y="2318197"/>
            <a:ext cx="9724031" cy="36833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7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Configuration:</a:t>
            </a: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 Unicode MS"/>
              </a:rPr>
              <a:t>infrastructure/suricata.yaml</a:t>
            </a:r>
            <a:b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 Unicode MS"/>
              </a:rPr>
            </a:br>
            <a:endParaRPr kumimoji="0" lang="en-US" altLang="en-US" sz="1700" b="0" i="0" u="none" strike="noStrike" cap="none" normalizeH="0" baseline="0">
              <a:ln>
                <a:noFill/>
              </a:ln>
              <a:effectLst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7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The Data (</a:t>
            </a:r>
            <a:r>
              <a:rPr lang="en-US" altLang="en-US" sz="1700">
                <a:latin typeface="Arial Unicode MS"/>
              </a:rPr>
              <a:t>eve.json</a:t>
            </a:r>
            <a:r>
              <a:rPr kumimoji="0" lang="en-US" altLang="en-US" sz="17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)</a:t>
            </a:r>
            <a:br>
              <a:rPr kumimoji="0" lang="en-US" altLang="en-US" sz="17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</a:br>
            <a:endParaRPr lang="en-US" altLang="en-US" sz="1700">
              <a:latin typeface="Arial Unicode MS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Source IP &amp; Destination IP.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Ports, Bytes Transferred, Duration.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Protocol (TCP/UDP).</a:t>
            </a:r>
            <a:b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</a:br>
            <a:endParaRPr kumimoji="0" lang="en-US" altLang="en-US" sz="17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7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Why Metadata?</a:t>
            </a: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Malware is often encrypted. Traffic </a:t>
            </a:r>
            <a:r>
              <a:rPr kumimoji="0" lang="en-US" altLang="en-US" sz="1700" b="0" i="1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patterns</a:t>
            </a: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(metadata) reveal intent even when contents are hidden.</a:t>
            </a:r>
            <a:b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</a:br>
            <a:b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</a:br>
            <a:r>
              <a:rPr lang="en-US" sz="1700"/>
              <a:t>We configure Suricata to ignore the payload text and instead focus on the </a:t>
            </a:r>
            <a:r>
              <a:rPr lang="en-US" sz="1700" i="1"/>
              <a:t>behavior</a:t>
            </a:r>
            <a:r>
              <a:rPr lang="en-US" sz="1700"/>
              <a:t>. It writes a JSON log for every connection. This provides the raw material for our Machine Learning model.</a:t>
            </a:r>
            <a:endParaRPr kumimoji="0" lang="en-US" altLang="en-US" sz="17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87409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85CD59-63E5-43EF-F16A-91BE209E2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B36F400F-DF28-43BC-8D8E-4929793B39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564" y="320040"/>
            <a:ext cx="11548872" cy="6217920"/>
          </a:xfrm>
          <a:prstGeom prst="rect">
            <a:avLst/>
          </a:prstGeom>
          <a:solidFill>
            <a:schemeClr val="tx1">
              <a:alpha val="15000"/>
            </a:schemeClr>
          </a:solidFill>
          <a:ln w="127000" cap="sq" cmpd="thinThick">
            <a:solidFill>
              <a:schemeClr val="tx1">
                <a:alpha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u 1">
            <a:extLst>
              <a:ext uri="{FF2B5EF4-FFF2-40B4-BE49-F238E27FC236}">
                <a16:creationId xmlns:a16="http://schemas.microsoft.com/office/drawing/2014/main" id="{B9773EB3-4951-D28B-EBBC-B072DFC27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8377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Processing: Real-Time Feature Engineering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963B39F-3E87-9FA5-C1F4-8BA7A748078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177456"/>
            <a:ext cx="5097780" cy="379574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Ctr="0" compatLnSpc="1">
            <a:prstTxWarp prst="textNoShape">
              <a:avLst/>
            </a:prstTxWarp>
            <a:normAutofit/>
          </a:bodyPr>
          <a:lstStyle/>
          <a:p>
            <a:pPr marL="0" marR="0" lvl="0" fontAlgn="base"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en-US" sz="1900" b="1" i="0" u="none" strike="noStrike" cap="none" normalizeH="0" baseline="0">
                <a:ln>
                  <a:noFill/>
                </a:ln>
                <a:effectLst/>
              </a:rPr>
              <a:t>Engine:</a:t>
            </a:r>
            <a:r>
              <a:rPr kumimoji="0" lang="en-US" altLang="en-US" sz="1900" b="0" i="0" u="none" strike="noStrike" cap="none" normalizeH="0" baseline="0">
                <a:ln>
                  <a:noFill/>
                </a:ln>
                <a:effectLst/>
              </a:rPr>
              <a:t> </a:t>
            </a:r>
            <a:r>
              <a:rPr lang="en-US" altLang="en-US" sz="1900"/>
              <a:t>ml_engine container (Python).</a:t>
            </a:r>
          </a:p>
          <a:p>
            <a:pPr marL="0" fontAlgn="base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900" b="1" i="0" u="none" strike="noStrike" cap="none" normalizeH="0" baseline="0">
                <a:ln>
                  <a:noFill/>
                </a:ln>
                <a:effectLst/>
              </a:rPr>
              <a:t>Process:</a:t>
            </a:r>
            <a:r>
              <a:rPr kumimoji="0" lang="en-US" altLang="en-US" sz="1900" b="0" i="0" u="none" strike="noStrike" cap="none" normalizeH="0" baseline="0">
                <a:ln>
                  <a:noFill/>
                </a:ln>
                <a:effectLst/>
              </a:rPr>
              <a:t> continuously tails </a:t>
            </a:r>
            <a:r>
              <a:rPr lang="en-US" altLang="en-US" sz="1900"/>
              <a:t>eve.json.</a:t>
            </a:r>
          </a:p>
          <a:p>
            <a:pPr marL="0" marR="0" lvl="0" fontAlgn="base"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en-US" sz="1900" b="1" i="0" u="none" strike="noStrike" cap="none" normalizeH="0" baseline="0">
                <a:ln>
                  <a:noFill/>
                </a:ln>
                <a:effectLst/>
              </a:rPr>
              <a:t>Derived Features (The 2-Second Window):</a:t>
            </a:r>
            <a:endParaRPr kumimoji="0" lang="en-US" altLang="en-US" sz="1900" b="0" i="0" u="none" strike="noStrike" cap="none" normalizeH="0" baseline="0">
              <a:ln>
                <a:noFill/>
              </a:ln>
              <a:effectLst/>
            </a:endParaRPr>
          </a:p>
          <a:p>
            <a:pPr marL="0" marR="0" lvl="0" fontAlgn="base"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en-US" sz="1900" b="0" i="0" u="none" strike="noStrike" cap="none" normalizeH="0" baseline="0">
                <a:ln>
                  <a:noFill/>
                </a:ln>
                <a:effectLst/>
              </a:rPr>
              <a:t>The model requires 9 specific inputs (</a:t>
            </a:r>
            <a:r>
              <a:rPr lang="en-US" altLang="en-US" sz="1900"/>
              <a:t>model_metadata.json).</a:t>
            </a:r>
          </a:p>
          <a:p>
            <a:pPr marL="0" marR="0" lvl="0" fontAlgn="base"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en-US" sz="1900" b="1" i="0" u="none" strike="noStrike" cap="none" normalizeH="0" baseline="0">
                <a:ln>
                  <a:noFill/>
                </a:ln>
                <a:effectLst/>
              </a:rPr>
              <a:t>Traffic Volume:</a:t>
            </a:r>
            <a:r>
              <a:rPr kumimoji="0" lang="en-US" altLang="en-US" sz="1900" b="0" i="0" u="none" strike="noStrike" cap="none" normalizeH="0" baseline="0">
                <a:ln>
                  <a:noFill/>
                </a:ln>
                <a:effectLst/>
              </a:rPr>
              <a:t> </a:t>
            </a:r>
            <a:r>
              <a:rPr lang="en-US" altLang="en-US" sz="1900"/>
              <a:t>count (Connections to same host in 2s).</a:t>
            </a:r>
          </a:p>
          <a:p>
            <a:pPr marL="0" fontAlgn="base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900" b="1" i="0" u="none" strike="noStrike" cap="none" normalizeH="0" baseline="0">
                <a:ln>
                  <a:noFill/>
                </a:ln>
                <a:effectLst/>
              </a:rPr>
              <a:t>Scan Detection:</a:t>
            </a:r>
            <a:r>
              <a:rPr kumimoji="0" lang="en-US" altLang="en-US" sz="1900" b="0" i="0" u="none" strike="noStrike" cap="none" normalizeH="0" baseline="0">
                <a:ln>
                  <a:noFill/>
                </a:ln>
                <a:effectLst/>
              </a:rPr>
              <a:t> </a:t>
            </a:r>
            <a:r>
              <a:rPr lang="en-US" altLang="en-US" sz="1900"/>
              <a:t>srv_count (Connections to same port).</a:t>
            </a:r>
          </a:p>
          <a:p>
            <a:pPr marL="0" marR="0" lvl="0" fontAlgn="base"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en-US" sz="1900" b="1" i="0" u="none" strike="noStrike" cap="none" normalizeH="0" baseline="0">
                <a:ln>
                  <a:noFill/>
                </a:ln>
                <a:effectLst/>
              </a:rPr>
              <a:t>Error Rates:</a:t>
            </a:r>
            <a:r>
              <a:rPr kumimoji="0" lang="en-US" altLang="en-US" sz="1900" b="0" i="0" u="none" strike="noStrike" cap="none" normalizeH="0" baseline="0">
                <a:ln>
                  <a:noFill/>
                </a:ln>
                <a:effectLst/>
              </a:rPr>
              <a:t> </a:t>
            </a:r>
            <a:r>
              <a:rPr lang="en-US" altLang="en-US" sz="1900"/>
              <a:t>serror_rate (SYN errors), rerror_rate (Rejection errors).</a:t>
            </a:r>
          </a:p>
          <a:p>
            <a:pPr marL="0" marR="0" lvl="0" fontAlgn="base"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endParaRPr kumimoji="0" lang="en-US" altLang="en-US" sz="1900" b="0" i="0" u="none" strike="noStrike" cap="none" normalizeH="0" baseline="0">
              <a:ln>
                <a:noFill/>
              </a:ln>
              <a:effectLst/>
            </a:endParaRPr>
          </a:p>
        </p:txBody>
      </p:sp>
      <p:sp>
        <p:nvSpPr>
          <p:cNvPr id="3" name="CasetăText 2">
            <a:extLst>
              <a:ext uri="{FF2B5EF4-FFF2-40B4-BE49-F238E27FC236}">
                <a16:creationId xmlns:a16="http://schemas.microsoft.com/office/drawing/2014/main" id="{BD75D5F8-62AA-707F-A473-F1B427FE6078}"/>
              </a:ext>
            </a:extLst>
          </p:cNvPr>
          <p:cNvSpPr txBox="1"/>
          <p:nvPr/>
        </p:nvSpPr>
        <p:spPr>
          <a:xfrm>
            <a:off x="6256020" y="2177456"/>
            <a:ext cx="5097780" cy="37957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/>
              <a:t>Raw logs aren't enough. The ML engine calculates context in real-time. It asks: 'How many times has this IP hit us in the last 2 seconds?' or 'What is the percentage of failed connections?' High error rates usually indicate a SYN Flood or a brute-force attempt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5700190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u 1">
            <a:extLst>
              <a:ext uri="{FF2B5EF4-FFF2-40B4-BE49-F238E27FC236}">
                <a16:creationId xmlns:a16="http://schemas.microsoft.com/office/drawing/2014/main" id="{19A50636-B575-F3E2-1656-8F5214FF14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The Decision: Random Forest Classification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B79EE4D-2C83-46AB-0C2B-388CCC9E90E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371599" y="2318197"/>
            <a:ext cx="9724031" cy="36833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Model: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 </a:t>
            </a:r>
            <a:r>
              <a:rPr lang="en-US" altLang="en-US" sz="2000" i="1" dirty="0" err="1">
                <a:latin typeface="Arial Unicode MS"/>
              </a:rPr>
              <a:t>kdd_model.joblib</a:t>
            </a:r>
            <a:r>
              <a:rPr lang="en-US" altLang="en-US" sz="2000" i="1" dirty="0">
                <a:latin typeface="Arial Unicode MS"/>
              </a:rPr>
              <a:t> (Trained on NSL-KDD dataset).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Algorithm: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 Random Forest.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An ensemble of decision trees voting on the outcome.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The Threshold: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Google Sans Text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The model calculates a probability score.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Configuration: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 </a:t>
            </a:r>
            <a:r>
              <a:rPr lang="en-US" altLang="en-US" sz="2000" i="1" dirty="0">
                <a:latin typeface="Arial Unicode MS"/>
              </a:rPr>
              <a:t>BLOCK_THRESHOLD = 0.85 (defined in docker-</a:t>
            </a:r>
            <a:r>
              <a:rPr lang="en-US" altLang="en-US" sz="2000" i="1" dirty="0" err="1">
                <a:latin typeface="Arial Unicode MS"/>
              </a:rPr>
              <a:t>compose.yml</a:t>
            </a:r>
            <a:r>
              <a:rPr lang="en-US" altLang="en-US" sz="2000" i="1" dirty="0">
                <a:latin typeface="Arial Unicode MS"/>
              </a:rPr>
              <a:t>).</a:t>
            </a:r>
            <a:br>
              <a:rPr lang="en-US" altLang="en-US" sz="2000" i="1" dirty="0">
                <a:latin typeface="Arial Unicode MS"/>
              </a:rPr>
            </a:br>
            <a:endParaRPr lang="en-US" altLang="en-US" sz="2000" i="1" dirty="0">
              <a:latin typeface="Arial Unicode MS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sz="2000" dirty="0"/>
              <a:t>We use a Random Forest model, which effectively asks a series of questions: 'Is the count &gt; 100? Is the source bytes &lt; 50?' If the model is more than 85% confident that this is an attack, it moves to the blocking phase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23462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CA06CD6-90CA-4C45-856C-6771339E1E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564" y="320040"/>
            <a:ext cx="11548872" cy="6217920"/>
          </a:xfrm>
          <a:prstGeom prst="rect">
            <a:avLst/>
          </a:prstGeom>
          <a:solidFill>
            <a:schemeClr val="tx1">
              <a:alpha val="10000"/>
            </a:schemeClr>
          </a:solidFill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u 1">
            <a:extLst>
              <a:ext uri="{FF2B5EF4-FFF2-40B4-BE49-F238E27FC236}">
                <a16:creationId xmlns:a16="http://schemas.microsoft.com/office/drawing/2014/main" id="{2576B2AD-86A4-BC4B-A3E5-8449DE571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3507"/>
            <a:ext cx="3494362" cy="493098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kern="120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The Action: Dynamic Firewall Manipulation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021601D-2758-4B15-A31C-FDA184C51B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2057400"/>
            <a:ext cx="0" cy="274320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1">
            <a:extLst>
              <a:ext uri="{FF2B5EF4-FFF2-40B4-BE49-F238E27FC236}">
                <a16:creationId xmlns:a16="http://schemas.microsoft.com/office/drawing/2014/main" id="{56DF2484-3983-57BE-40A9-2F27F2CE378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976030" y="963507"/>
            <a:ext cx="6250940" cy="230462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b" anchorCtr="0" compatLnSpc="1">
            <a:prstTxWarp prst="textNoShape">
              <a:avLst/>
            </a:prstTxWarp>
            <a:normAutofit/>
          </a:bodyPr>
          <a:lstStyle/>
          <a:p>
            <a:pPr marL="0" marR="0" lvl="0" fontAlgn="base"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en-US" sz="1700" b="1" i="0" u="none" strike="noStrike" cap="none" normalizeH="0" baseline="0">
                <a:ln>
                  <a:noFill/>
                </a:ln>
                <a:effectLst/>
              </a:rPr>
              <a:t>Capability:</a:t>
            </a:r>
            <a:endParaRPr kumimoji="0" lang="en-US" altLang="en-US" sz="1700" b="0" i="0" u="none" strike="noStrike" cap="none" normalizeH="0" baseline="0">
              <a:ln>
                <a:noFill/>
              </a:ln>
              <a:effectLst/>
            </a:endParaRPr>
          </a:p>
          <a:p>
            <a:pPr marL="457200" lvl="1" fontAlgn="base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</a:rPr>
              <a:t>Container has cap_add: - NET_ADMIN.</a:t>
            </a:r>
          </a:p>
          <a:p>
            <a:pPr marL="457200" lvl="1" fontAlgn="base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</a:rPr>
              <a:t>Network mode: host.</a:t>
            </a:r>
          </a:p>
          <a:p>
            <a:pPr marL="0" marR="0" lvl="0" fontAlgn="base"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en-US" sz="1700" b="1" i="0" u="none" strike="noStrike" cap="none" normalizeH="0" baseline="0">
                <a:ln>
                  <a:noFill/>
                </a:ln>
                <a:effectLst/>
              </a:rPr>
              <a:t>Mechanism:</a:t>
            </a:r>
            <a:endParaRPr kumimoji="0" lang="en-US" altLang="en-US" sz="1700" b="0" i="0" u="none" strike="noStrike" cap="none" normalizeH="0" baseline="0">
              <a:ln>
                <a:noFill/>
              </a:ln>
              <a:effectLst/>
            </a:endParaRPr>
          </a:p>
          <a:p>
            <a:pPr marL="457200" lvl="1" fontAlgn="base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</a:rPr>
              <a:t>Python executes system commands upon detection.</a:t>
            </a:r>
          </a:p>
          <a:p>
            <a:pPr marL="457200" lvl="1" fontAlgn="base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</a:rPr>
              <a:t>Command: iptables -I INPUT -s &lt;ATTACKER_IP&gt; -j DROP.</a:t>
            </a:r>
          </a:p>
          <a:p>
            <a:pPr marL="0" marR="0" lvl="0" fontAlgn="base"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en-US" sz="1700" b="1" i="0" u="none" strike="noStrike" cap="none" normalizeH="0" baseline="0">
                <a:ln>
                  <a:noFill/>
                </a:ln>
                <a:effectLst/>
              </a:rPr>
              <a:t>Result:</a:t>
            </a: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</a:rPr>
              <a:t> The Linux kernel immediately drops packets. </a:t>
            </a:r>
          </a:p>
        </p:txBody>
      </p:sp>
      <p:sp>
        <p:nvSpPr>
          <p:cNvPr id="6" name="CasetăText 5">
            <a:extLst>
              <a:ext uri="{FF2B5EF4-FFF2-40B4-BE49-F238E27FC236}">
                <a16:creationId xmlns:a16="http://schemas.microsoft.com/office/drawing/2014/main" id="{4752ED36-5E73-AA1C-9C74-5C3A5541565D}"/>
              </a:ext>
            </a:extLst>
          </p:cNvPr>
          <p:cNvSpPr txBox="1"/>
          <p:nvPr/>
        </p:nvSpPr>
        <p:spPr>
          <a:xfrm>
            <a:off x="4976030" y="3589866"/>
            <a:ext cx="6250940" cy="23046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This is the 'Prevention' in IPS. Because we give the container NET_ADMIN privileges, it can modify the host's firewall rules. It automatically writes an IPTables rule to drop all traffic from the attacker's IP. No human intervention is required.</a:t>
            </a:r>
          </a:p>
        </p:txBody>
      </p:sp>
    </p:spTree>
    <p:extLst>
      <p:ext uri="{BB962C8B-B14F-4D97-AF65-F5344CB8AC3E}">
        <p14:creationId xmlns:p14="http://schemas.microsoft.com/office/powerpoint/2010/main" val="5959241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u 1">
            <a:extLst>
              <a:ext uri="{FF2B5EF4-FFF2-40B4-BE49-F238E27FC236}">
                <a16:creationId xmlns:a16="http://schemas.microsoft.com/office/drawing/2014/main" id="{CB06EACA-743F-E82E-1AB4-E63FD96A8C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Workflow</a:t>
            </a:r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8A5EEAC1-8573-D14F-3347-5545A1C2DF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000"/>
              <a:t>Example: The Lifecycle of a Block</a:t>
            </a:r>
          </a:p>
          <a:p>
            <a:r>
              <a:rPr lang="en-US" sz="2000" b="1"/>
              <a:t>Attack:</a:t>
            </a:r>
            <a:r>
              <a:rPr lang="en-US" sz="2000"/>
              <a:t> Attacker initiates a </a:t>
            </a:r>
            <a:r>
              <a:rPr lang="en-US" sz="2000" b="1"/>
              <a:t>SYN Flood</a:t>
            </a:r>
            <a:r>
              <a:rPr lang="en-US" sz="2000"/>
              <a:t>.</a:t>
            </a:r>
          </a:p>
          <a:p>
            <a:r>
              <a:rPr lang="en-US" sz="2000" b="1"/>
              <a:t>See:</a:t>
            </a:r>
            <a:r>
              <a:rPr lang="en-US" sz="2000"/>
              <a:t> Suricata logs incomplete connections to eve.json.</a:t>
            </a:r>
          </a:p>
          <a:p>
            <a:r>
              <a:rPr lang="en-US" sz="2000" b="1"/>
              <a:t>Process:</a:t>
            </a:r>
            <a:r>
              <a:rPr lang="en-US" sz="2000"/>
              <a:t> ML Engine sees count spike to 5000 and serror_rate hit 100%.</a:t>
            </a:r>
          </a:p>
          <a:p>
            <a:r>
              <a:rPr lang="en-US" sz="2000" b="1"/>
              <a:t>Decide:</a:t>
            </a:r>
            <a:r>
              <a:rPr lang="en-US" sz="2000"/>
              <a:t> Model predicts "DoS Attack" (99% confidence).</a:t>
            </a:r>
          </a:p>
          <a:p>
            <a:r>
              <a:rPr lang="en-US" sz="2000" b="1"/>
              <a:t>Act:</a:t>
            </a:r>
            <a:r>
              <a:rPr lang="en-US" sz="2000"/>
              <a:t> Engine runs iptables -j DROP.</a:t>
            </a:r>
          </a:p>
          <a:p>
            <a:r>
              <a:rPr lang="en-US" sz="2000" b="1"/>
              <a:t>Result:</a:t>
            </a:r>
            <a:r>
              <a:rPr lang="en-US" sz="2000"/>
              <a:t> Attack stopped.</a:t>
            </a:r>
          </a:p>
          <a:p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41949192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Yellow question mark">
            <a:extLst>
              <a:ext uri="{FF2B5EF4-FFF2-40B4-BE49-F238E27FC236}">
                <a16:creationId xmlns:a16="http://schemas.microsoft.com/office/drawing/2014/main" id="{26E96749-6DAD-B335-B3BB-C7DF161BC94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b="6250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B0222B5-B739-82A9-5CCC-C5585AE12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44663" y="-4344657"/>
            <a:ext cx="3512260" cy="12201589"/>
          </a:xfrm>
          <a:prstGeom prst="rect">
            <a:avLst/>
          </a:prstGeom>
          <a:gradFill flip="none" rotWithShape="1">
            <a:gsLst>
              <a:gs pos="10000">
                <a:srgbClr val="000000">
                  <a:alpha val="0"/>
                </a:srgbClr>
              </a:gs>
              <a:gs pos="66000">
                <a:srgbClr val="000000">
                  <a:alpha val="46000"/>
                </a:srgbClr>
              </a:gs>
              <a:gs pos="100000">
                <a:srgbClr val="000000">
                  <a:alpha val="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u 1">
            <a:extLst>
              <a:ext uri="{FF2B5EF4-FFF2-40B4-BE49-F238E27FC236}">
                <a16:creationId xmlns:a16="http://schemas.microsoft.com/office/drawing/2014/main" id="{CF19BBDD-F419-78B8-0B88-E75091D3C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137434"/>
            <a:ext cx="7800660" cy="152098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Questions?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E23E75-E7E9-4D9F-6D25-5512363F8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878570" y="-449383"/>
            <a:ext cx="2425271" cy="12201588"/>
          </a:xfrm>
          <a:prstGeom prst="rect">
            <a:avLst/>
          </a:prstGeom>
          <a:gradFill flip="none" rotWithShape="1">
            <a:gsLst>
              <a:gs pos="10000">
                <a:srgbClr val="000000">
                  <a:alpha val="0"/>
                </a:srgbClr>
              </a:gs>
              <a:gs pos="66000">
                <a:srgbClr val="000000">
                  <a:alpha val="35000"/>
                </a:srgbClr>
              </a:gs>
              <a:gs pos="100000">
                <a:srgbClr val="000000">
                  <a:alpha val="4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1B115DB-65EB-3FC3-7284-CFDF4ADC60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5140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8494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Temă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</TotalTime>
  <Words>701</Words>
  <Application>Microsoft Office PowerPoint</Application>
  <PresentationFormat>Ecran lat</PresentationFormat>
  <Paragraphs>54</Paragraphs>
  <Slides>9</Slides>
  <Notes>0</Notes>
  <HiddenSlides>0</HiddenSlides>
  <MMClips>0</MMClips>
  <ScaleCrop>false</ScaleCrop>
  <HeadingPairs>
    <vt:vector size="6" baseType="variant">
      <vt:variant>
        <vt:lpstr>Fonturi utilizate</vt:lpstr>
      </vt:variant>
      <vt:variant>
        <vt:i4>5</vt:i4>
      </vt:variant>
      <vt:variant>
        <vt:lpstr>Temă</vt:lpstr>
      </vt:variant>
      <vt:variant>
        <vt:i4>1</vt:i4>
      </vt:variant>
      <vt:variant>
        <vt:lpstr>Titluri diapozitive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Arial Unicode MS</vt:lpstr>
      <vt:lpstr>Google Sans Text</vt:lpstr>
      <vt:lpstr>Temă Office</vt:lpstr>
      <vt:lpstr>Prezentare PowerPoint</vt:lpstr>
      <vt:lpstr>Why Traditional Firewalls Aren't Enough</vt:lpstr>
      <vt:lpstr>Neuro Sentinel Architecture</vt:lpstr>
      <vt:lpstr>Input: Suricata Flow Data</vt:lpstr>
      <vt:lpstr>Processing: Real-Time Feature Engineering</vt:lpstr>
      <vt:lpstr>The Decision: Random Forest Classification</vt:lpstr>
      <vt:lpstr>The Action: Dynamic Firewall Manipulation</vt:lpstr>
      <vt:lpstr>Workflow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Marian-Vlăduţ ADAM (153998)</dc:creator>
  <cp:lastModifiedBy>Marian-Vlăduţ ADAM (153998)</cp:lastModifiedBy>
  <cp:revision>2</cp:revision>
  <dcterms:created xsi:type="dcterms:W3CDTF">2026-01-18T12:53:14Z</dcterms:created>
  <dcterms:modified xsi:type="dcterms:W3CDTF">2026-01-18T15:35:51Z</dcterms:modified>
</cp:coreProperties>
</file>